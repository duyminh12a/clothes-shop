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82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9966960" cy="731520"/>
          </a:xfrm>
          <a:prstGeom prst="rect">
            <a:avLst/>
          </a:prstGeom>
          <a:noFill/>
        </p:spPr>
        <p:txBody>
          <a:bodyPr wrap="none">
            <a:spAutoFit/>
          </a:bodyPr>
          <a:lstStyle/>
          <a:p>
            <a:pPr>
              <a:defRPr sz="3600" b="1">
                <a:solidFill>
                  <a:srgbClr val="F7F5F0"/>
                </a:solidFill>
                <a:latin typeface="Trebuchet MS"/>
              </a:defRPr>
            </a:pPr>
            <a:r>
              <a:t>nếp form.</a:t>
            </a:r>
          </a:p>
          <a:p>
            <a:pPr>
              <a:spcBef>
                <a:spcPts val="800"/>
              </a:spcBef>
              <a:defRPr sz="1100" b="1">
                <a:solidFill>
                  <a:srgbClr val="C4A35A"/>
                </a:solidFill>
                <a:latin typeface="Calibri"/>
              </a:defRPr>
            </a:pPr>
            <a:r>
              <a:t>NỀN TẢNG THIẾT KẾ ÁO TÙY BIẾN &amp; THƯƠNG MẠI ĐIỆN TỬ KHÉP KÍN</a:t>
            </a:r>
          </a:p>
        </p:txBody>
      </p:sp>
      <p:sp>
        <p:nvSpPr>
          <p:cNvPr id="4" name="TextBox 3"/>
          <p:cNvSpPr txBox="1"/>
          <p:nvPr/>
        </p:nvSpPr>
        <p:spPr>
          <a:xfrm>
            <a:off x="1097280" y="2651760"/>
            <a:ext cx="9966960" cy="2011680"/>
          </a:xfrm>
          <a:prstGeom prst="rect">
            <a:avLst/>
          </a:prstGeom>
          <a:noFill/>
        </p:spPr>
        <p:txBody>
          <a:bodyPr wrap="square">
            <a:spAutoFit/>
          </a:bodyPr>
          <a:lstStyle/>
          <a:p>
            <a:pPr>
              <a:spcAft>
                <a:spcPts val="1200"/>
              </a:spcAft>
              <a:defRPr sz="3200" b="1">
                <a:solidFill>
                  <a:srgbClr val="FFFFFF"/>
                </a:solidFill>
                <a:latin typeface="Trebuchet MS"/>
              </a:defRPr>
            </a:pPr>
            <a:r>
              <a:t>Báo Cáo Kiến Trúc Kỹ Thuật,</a:t>
            </a:r>
            <a:br/>
            <a:r>
              <a:t>Trải Nghiệm Studio &amp; Hệ Thống Quản Trị</a:t>
            </a:r>
          </a:p>
          <a:p>
            <a:pPr>
              <a:defRPr sz="1300">
                <a:solidFill>
                  <a:srgbClr val="C3C8BE"/>
                </a:solidFill>
                <a:latin typeface="Calibri"/>
              </a:defRPr>
            </a:pPr>
            <a:r>
              <a:t>Tổng quan kiến trúc Full-Stack Django 5.2, động cơ đồ họa Fabric.js Studio, hệ thống E-commerce đa biến thể và giải pháp Serverless tối ưu trên nền tảng Vercel Cloud.</a:t>
            </a:r>
          </a:p>
        </p:txBody>
      </p:sp>
      <p:sp>
        <p:nvSpPr>
          <p:cNvPr id="5" name="Rounded Rectangle 4"/>
          <p:cNvSpPr/>
          <p:nvPr/>
        </p:nvSpPr>
        <p:spPr>
          <a:xfrm>
            <a:off x="1097280" y="4937760"/>
            <a:ext cx="9966960" cy="1005840"/>
          </a:xfrm>
          <a:prstGeom prst="roundRect">
            <a:avLst/>
          </a:prstGeom>
          <a:solidFill>
            <a:srgbClr val="222E24"/>
          </a:solidFill>
          <a:ln w="12700">
            <a:solidFill>
              <a:srgbClr val="324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5029200"/>
            <a:ext cx="9418320" cy="822960"/>
          </a:xfrm>
          <a:prstGeom prst="rect">
            <a:avLst/>
          </a:prstGeom>
          <a:noFill/>
        </p:spPr>
        <p:txBody>
          <a:bodyPr wrap="none">
            <a:spAutoFit/>
          </a:bodyPr>
          <a:lstStyle/>
          <a:p>
            <a:pPr>
              <a:defRPr sz="1000" b="1">
                <a:solidFill>
                  <a:srgbClr val="C4A35A"/>
                </a:solidFill>
                <a:latin typeface="Calibri"/>
              </a:defRPr>
            </a:pPr>
            <a:r>
              <a:t>ĐƠN VỊ THỰC HIỆN: Nếp Form Core Engineering Team    •    PHIÊN BẢN HỆ THỐNG: 2.4.0-Production    •    THỜI GIAN: 10/2026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698480" cy="1188720"/>
          </a:xfrm>
          <a:prstGeom prst="rect">
            <a:avLst/>
          </a:prstGeom>
          <a:noFill/>
        </p:spPr>
        <p:txBody>
          <a:bodyPr wrap="square" lIns="0" tIns="0" rIns="0" bIns="0">
            <a:spAutoFit/>
          </a:bodyPr>
          <a:lstStyle/>
          <a:p>
            <a:pPr>
              <a:spcAft>
                <a:spcPts val="300"/>
              </a:spcAft>
              <a:defRPr sz="1000" b="1">
                <a:solidFill>
                  <a:srgbClr val="647746"/>
                </a:solidFill>
                <a:latin typeface="Calibri"/>
              </a:defRPr>
            </a:pPr>
            <a:r>
              <a:t>/// BỐI CẢNH &amp; VẤN ĐỀ</a:t>
            </a:r>
          </a:p>
          <a:p>
            <a:pPr>
              <a:defRPr sz="2200" b="1">
                <a:solidFill>
                  <a:srgbClr val="1C1C1C"/>
                </a:solidFill>
                <a:latin typeface="Trebuchet MS"/>
              </a:defRPr>
            </a:pPr>
            <a:r>
              <a:t>Thách Thức Trong Ngành POD &amp; Thời Trang Cá Nhân Hóa</a:t>
            </a:r>
          </a:p>
          <a:p>
            <a:pPr>
              <a:spcBef>
                <a:spcPts val="400"/>
              </a:spcBef>
              <a:defRPr sz="1100">
                <a:solidFill>
                  <a:srgbClr val="6E7369"/>
                </a:solidFill>
                <a:latin typeface="Calibri"/>
              </a:defRPr>
            </a:pPr>
            <a:r>
              <a:t>Phân tích 3 rào cản cốt lõi khiến các giải pháp áo in truyền thống chưa đáp ứng kỳ vọng khách hàng.</a:t>
            </a:r>
          </a:p>
        </p:txBody>
      </p:sp>
      <p:sp>
        <p:nvSpPr>
          <p:cNvPr id="4" name="TextBox 3"/>
          <p:cNvSpPr txBox="1"/>
          <p:nvPr/>
        </p:nvSpPr>
        <p:spPr>
          <a:xfrm>
            <a:off x="731520" y="6309360"/>
            <a:ext cx="10698480" cy="365760"/>
          </a:xfrm>
          <a:prstGeom prst="rect">
            <a:avLst/>
          </a:prstGeom>
          <a:noFill/>
        </p:spPr>
        <p:txBody>
          <a:bodyPr wrap="square" lIns="0" tIns="0" rIns="0" bIns="0">
            <a:spAutoFit/>
          </a:bodyPr>
          <a:lstStyle/>
          <a:p>
            <a:pPr>
              <a:defRPr sz="900">
                <a:solidFill>
                  <a:srgbClr val="A0A0A0"/>
                </a:solidFill>
                <a:latin typeface="Calibri"/>
              </a:defRPr>
            </a:pPr>
            <a:r>
              <a:t>NẾP FORM — BÁO CÁO KIẾN TRÚC HỆ THỐNG &amp; SẢN XUẤT THỜI TRANG THEO YÊU CẦU    |    SLIDE 02 / 16</a:t>
            </a:r>
          </a:p>
        </p:txBody>
      </p:sp>
      <p:sp>
        <p:nvSpPr>
          <p:cNvPr id="5" name="Rounded Rectangle 4"/>
          <p:cNvSpPr/>
          <p:nvPr/>
        </p:nvSpPr>
        <p:spPr>
          <a:xfrm>
            <a:off x="731520" y="1737360"/>
            <a:ext cx="3328416" cy="4206240"/>
          </a:xfrm>
          <a:prstGeom prst="roundRect">
            <a:avLst/>
          </a:prstGeom>
          <a:solidFill>
            <a:srgbClr val="FFFFFF"/>
          </a:solidFill>
          <a:ln w="12700">
            <a:solidFill>
              <a:srgbClr val="E4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011680"/>
            <a:ext cx="2779776" cy="3657600"/>
          </a:xfrm>
          <a:prstGeom prst="rect">
            <a:avLst/>
          </a:prstGeom>
          <a:noFill/>
        </p:spPr>
        <p:txBody>
          <a:bodyPr wrap="square">
            <a:spAutoFit/>
          </a:bodyPr>
          <a:lstStyle/>
          <a:p>
            <a:pPr>
              <a:defRPr sz="2800" b="1">
                <a:solidFill>
                  <a:srgbClr val="647746"/>
                </a:solidFill>
                <a:latin typeface="Trebuchet MS"/>
              </a:defRPr>
            </a:pPr>
            <a:r>
              <a:t>01</a:t>
            </a:r>
          </a:p>
          <a:p>
            <a:pPr>
              <a:spcBef>
                <a:spcPts val="200"/>
              </a:spcBef>
              <a:spcAft>
                <a:spcPts val="800"/>
              </a:spcAft>
              <a:defRPr sz="900" b="1">
                <a:solidFill>
                  <a:srgbClr val="C4A35A"/>
                </a:solidFill>
                <a:latin typeface="Calibri"/>
              </a:defRPr>
            </a:pPr>
            <a:r>
              <a:t>UX / UI BARRIER</a:t>
            </a:r>
          </a:p>
          <a:p>
            <a:pPr>
              <a:spcAft>
                <a:spcPts val="1200"/>
              </a:spcAft>
              <a:defRPr sz="1500" b="1">
                <a:solidFill>
                  <a:srgbClr val="1C1C1C"/>
                </a:solidFill>
                <a:latin typeface="Trebuchet MS"/>
              </a:defRPr>
            </a:pPr>
            <a:r>
              <a:t>Trải Nghiệm Thiết Kế Rời Rạc</a:t>
            </a:r>
          </a:p>
          <a:p>
            <a:pPr>
              <a:spcAft>
                <a:spcPts val="800"/>
              </a:spcAft>
              <a:defRPr sz="1050">
                <a:solidFill>
                  <a:srgbClr val="6E7369"/>
                </a:solidFill>
                <a:latin typeface="Calibri"/>
              </a:defRPr>
            </a:pPr>
            <a:r>
              <a:t>• Hầu hết website yêu cầu gửi file Photoshop/AI qua chat hoặc email, không có bộ công cụ trực quan.</a:t>
            </a:r>
          </a:p>
          <a:p>
            <a:pPr>
              <a:spcAft>
                <a:spcPts val="800"/>
              </a:spcAft>
              <a:defRPr sz="1050">
                <a:solidFill>
                  <a:srgbClr val="6E7369"/>
                </a:solidFill>
                <a:latin typeface="Calibri"/>
              </a:defRPr>
            </a:pPr>
            <a:r>
              <a:t>• Mockup trên màn hình phẳng không mô phỏng được độ rủ của vải, chất liệu và phối màu thực tế.</a:t>
            </a:r>
          </a:p>
          <a:p>
            <a:pPr>
              <a:spcAft>
                <a:spcPts val="800"/>
              </a:spcAft>
              <a:defRPr sz="1050">
                <a:solidFill>
                  <a:srgbClr val="6E7369"/>
                </a:solidFill>
                <a:latin typeface="Calibri"/>
              </a:defRPr>
            </a:pPr>
            <a:r>
              <a:t>• Khách hàng khó hình dung vị trí in ấn mặt trước và mặt sau trước khi xưởng tiến hành in ấn.</a:t>
            </a:r>
          </a:p>
        </p:txBody>
      </p:sp>
      <p:sp>
        <p:nvSpPr>
          <p:cNvPr id="7" name="Rounded Rectangle 6"/>
          <p:cNvSpPr/>
          <p:nvPr/>
        </p:nvSpPr>
        <p:spPr>
          <a:xfrm>
            <a:off x="4416552" y="1737360"/>
            <a:ext cx="3328416" cy="4206240"/>
          </a:xfrm>
          <a:prstGeom prst="roundRect">
            <a:avLst/>
          </a:prstGeom>
          <a:solidFill>
            <a:srgbClr val="FFFFFF"/>
          </a:solidFill>
          <a:ln w="12700">
            <a:solidFill>
              <a:srgbClr val="E4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90872" y="2011680"/>
            <a:ext cx="2779776" cy="3657600"/>
          </a:xfrm>
          <a:prstGeom prst="rect">
            <a:avLst/>
          </a:prstGeom>
          <a:noFill/>
        </p:spPr>
        <p:txBody>
          <a:bodyPr wrap="square">
            <a:spAutoFit/>
          </a:bodyPr>
          <a:lstStyle/>
          <a:p>
            <a:pPr>
              <a:defRPr sz="2800" b="1">
                <a:solidFill>
                  <a:srgbClr val="647746"/>
                </a:solidFill>
                <a:latin typeface="Trebuchet MS"/>
              </a:defRPr>
            </a:pPr>
            <a:r>
              <a:t>02</a:t>
            </a:r>
          </a:p>
          <a:p>
            <a:pPr>
              <a:spcBef>
                <a:spcPts val="200"/>
              </a:spcBef>
              <a:spcAft>
                <a:spcPts val="800"/>
              </a:spcAft>
              <a:defRPr sz="900" b="1">
                <a:solidFill>
                  <a:srgbClr val="C4A35A"/>
                </a:solidFill>
                <a:latin typeface="Calibri"/>
              </a:defRPr>
            </a:pPr>
            <a:r>
              <a:t>PRODUCT QUALITY</a:t>
            </a:r>
          </a:p>
          <a:p>
            <a:pPr>
              <a:spcAft>
                <a:spcPts val="1200"/>
              </a:spcAft>
              <a:defRPr sz="1500" b="1">
                <a:solidFill>
                  <a:srgbClr val="1C1C1C"/>
                </a:solidFill>
                <a:latin typeface="Trebuchet MS"/>
              </a:defRPr>
            </a:pPr>
            <a:r>
              <a:t>Chất Lượng Vải &amp; Phom Dáng Kém</a:t>
            </a:r>
          </a:p>
          <a:p>
            <a:pPr>
              <a:spcAft>
                <a:spcPts val="800"/>
              </a:spcAft>
              <a:defRPr sz="1050">
                <a:solidFill>
                  <a:srgbClr val="6E7369"/>
                </a:solidFill>
                <a:latin typeface="Calibri"/>
              </a:defRPr>
            </a:pPr>
            <a:r>
              <a:t>• Đa phần phôi áo POD trên thị trường dùng vải mỏng pha nilon, nhanh dão cổ và xù lông sau 3 lần giặt.</a:t>
            </a:r>
          </a:p>
          <a:p>
            <a:pPr>
              <a:spcAft>
                <a:spcPts val="800"/>
              </a:spcAft>
              <a:defRPr sz="1050">
                <a:solidFill>
                  <a:srgbClr val="6E7369"/>
                </a:solidFill>
                <a:latin typeface="Calibri"/>
              </a:defRPr>
            </a:pPr>
            <a:r>
              <a:t>• Phom áo may theo kích thước ngoại cỡ hoặc may ẩu, không tôn dáng người Việt Nam.</a:t>
            </a:r>
          </a:p>
          <a:p>
            <a:pPr>
              <a:spcAft>
                <a:spcPts val="800"/>
              </a:spcAft>
              <a:defRPr sz="1050">
                <a:solidFill>
                  <a:srgbClr val="6E7369"/>
                </a:solidFill>
                <a:latin typeface="Calibri"/>
              </a:defRPr>
            </a:pPr>
            <a:r>
              <a:t>• Khách hàng đối mặt tỷ lệ đổi trả cao vì thiếu công cụ gợi ý kích cỡ dựa trên số đo nhân trắc học.</a:t>
            </a:r>
          </a:p>
        </p:txBody>
      </p:sp>
      <p:sp>
        <p:nvSpPr>
          <p:cNvPr id="9" name="Rounded Rectangle 8"/>
          <p:cNvSpPr/>
          <p:nvPr/>
        </p:nvSpPr>
        <p:spPr>
          <a:xfrm>
            <a:off x="8101584" y="1737360"/>
            <a:ext cx="3328416" cy="4206240"/>
          </a:xfrm>
          <a:prstGeom prst="roundRect">
            <a:avLst/>
          </a:prstGeom>
          <a:solidFill>
            <a:srgbClr val="FFFFFF"/>
          </a:solidFill>
          <a:ln w="12700">
            <a:solidFill>
              <a:srgbClr val="E4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75904" y="2011680"/>
            <a:ext cx="2779776" cy="3657600"/>
          </a:xfrm>
          <a:prstGeom prst="rect">
            <a:avLst/>
          </a:prstGeom>
          <a:noFill/>
        </p:spPr>
        <p:txBody>
          <a:bodyPr wrap="square">
            <a:spAutoFit/>
          </a:bodyPr>
          <a:lstStyle/>
          <a:p>
            <a:pPr>
              <a:defRPr sz="2800" b="1">
                <a:solidFill>
                  <a:srgbClr val="647746"/>
                </a:solidFill>
                <a:latin typeface="Trebuchet MS"/>
              </a:defRPr>
            </a:pPr>
            <a:r>
              <a:t>03</a:t>
            </a:r>
          </a:p>
          <a:p>
            <a:pPr>
              <a:spcBef>
                <a:spcPts val="200"/>
              </a:spcBef>
              <a:spcAft>
                <a:spcPts val="800"/>
              </a:spcAft>
              <a:defRPr sz="900" b="1">
                <a:solidFill>
                  <a:srgbClr val="C4A35A"/>
                </a:solidFill>
                <a:latin typeface="Calibri"/>
              </a:defRPr>
            </a:pPr>
            <a:r>
              <a:t>OPERATIONS GAP</a:t>
            </a:r>
          </a:p>
          <a:p>
            <a:pPr>
              <a:spcAft>
                <a:spcPts val="1200"/>
              </a:spcAft>
              <a:defRPr sz="1500" b="1">
                <a:solidFill>
                  <a:srgbClr val="1C1C1C"/>
                </a:solidFill>
                <a:latin typeface="Trebuchet MS"/>
              </a:defRPr>
            </a:pPr>
            <a:r>
              <a:t>Vận Hành Xưởng &amp; Tồn Kho Thủ Công</a:t>
            </a:r>
          </a:p>
          <a:p>
            <a:pPr>
              <a:spcAft>
                <a:spcPts val="800"/>
              </a:spcAft>
              <a:defRPr sz="1050">
                <a:solidFill>
                  <a:srgbClr val="6E7369"/>
                </a:solidFill>
                <a:latin typeface="Calibri"/>
              </a:defRPr>
            </a:pPr>
            <a:r>
              <a:t>• Xưởng may nhận đơn tản mạn qua tin nhắn dẫn đến sai sót về màu sắc, size áo và file vector in ấn.</a:t>
            </a:r>
          </a:p>
          <a:p>
            <a:pPr>
              <a:spcAft>
                <a:spcPts val="800"/>
              </a:spcAft>
              <a:defRPr sz="1050">
                <a:solidFill>
                  <a:srgbClr val="6E7369"/>
                </a:solidFill>
                <a:latin typeface="Calibri"/>
              </a:defRPr>
            </a:pPr>
            <a:r>
              <a:t>• Quản lý tồn kho biến thể 2 chiều (Màu x Size) thiếu đồng bộ thời gian thực.</a:t>
            </a:r>
          </a:p>
          <a:p>
            <a:pPr>
              <a:spcAft>
                <a:spcPts val="800"/>
              </a:spcAft>
              <a:defRPr sz="1050">
                <a:solidFill>
                  <a:srgbClr val="6E7369"/>
                </a:solidFill>
                <a:latin typeface="Calibri"/>
              </a:defRPr>
            </a:pPr>
            <a:r>
              <a:t>• Không có cổng quản trị chuyên sâu để duyệt đơn, xuất file in DTG và chăm sóc khách hàng thân thiết.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698480" cy="1188720"/>
          </a:xfrm>
          <a:prstGeom prst="rect">
            <a:avLst/>
          </a:prstGeom>
          <a:noFill/>
        </p:spPr>
        <p:txBody>
          <a:bodyPr wrap="square" lIns="0" tIns="0" rIns="0" bIns="0">
            <a:spAutoFit/>
          </a:bodyPr>
          <a:lstStyle/>
          <a:p>
            <a:pPr>
              <a:spcAft>
                <a:spcPts val="300"/>
              </a:spcAft>
              <a:defRPr sz="1000" b="1">
                <a:solidFill>
                  <a:srgbClr val="647746"/>
                </a:solidFill>
                <a:latin typeface="Calibri"/>
              </a:defRPr>
            </a:pPr>
            <a:r>
              <a:t>/// ĐỊNH VỊ THƯƠNG HIỆU</a:t>
            </a:r>
          </a:p>
          <a:p>
            <a:pPr>
              <a:defRPr sz="2200" b="1">
                <a:solidFill>
                  <a:srgbClr val="1C1C1C"/>
                </a:solidFill>
                <a:latin typeface="Trebuchet MS"/>
              </a:defRPr>
            </a:pPr>
            <a:r>
              <a:t>Triết Lý Nếp Form: Vải Là Nền. Bạn Là Cảm Hứng.</a:t>
            </a:r>
          </a:p>
          <a:p>
            <a:pPr>
              <a:spcBef>
                <a:spcPts val="400"/>
              </a:spcBef>
              <a:defRPr sz="1100">
                <a:solidFill>
                  <a:srgbClr val="6E7369"/>
                </a:solidFill>
                <a:latin typeface="Calibri"/>
              </a:defRPr>
            </a:pPr>
            <a:r>
              <a:t>Mô hình kết hợp hài hòa giữa xưởng may thủ công tuyển chọn và công nghệ thương mại điện tử hiện đại.</a:t>
            </a:r>
          </a:p>
        </p:txBody>
      </p:sp>
      <p:sp>
        <p:nvSpPr>
          <p:cNvPr id="4" name="TextBox 3"/>
          <p:cNvSpPr txBox="1"/>
          <p:nvPr/>
        </p:nvSpPr>
        <p:spPr>
          <a:xfrm>
            <a:off x="731520" y="6309360"/>
            <a:ext cx="10698480" cy="365760"/>
          </a:xfrm>
          <a:prstGeom prst="rect">
            <a:avLst/>
          </a:prstGeom>
          <a:noFill/>
        </p:spPr>
        <p:txBody>
          <a:bodyPr wrap="square" lIns="0" tIns="0" rIns="0" bIns="0">
            <a:spAutoFit/>
          </a:bodyPr>
          <a:lstStyle/>
          <a:p>
            <a:pPr>
              <a:defRPr sz="900">
                <a:solidFill>
                  <a:srgbClr val="A0A0A0"/>
                </a:solidFill>
                <a:latin typeface="Calibri"/>
              </a:defRPr>
            </a:pPr>
            <a:r>
              <a:t>NẾP FORM — BÁO CÁO KIẾN TRÚC HỆ THỐNG &amp; SẢN XUẤT THỜI TRANG THEO YÊU CẦU    |    SLIDE 03 / 16</a:t>
            </a:r>
          </a:p>
        </p:txBody>
      </p:sp>
      <p:sp>
        <p:nvSpPr>
          <p:cNvPr id="5" name="Rounded Rectangle 4"/>
          <p:cNvSpPr/>
          <p:nvPr/>
        </p:nvSpPr>
        <p:spPr>
          <a:xfrm>
            <a:off x="731520" y="1737360"/>
            <a:ext cx="10698480" cy="1097280"/>
          </a:xfrm>
          <a:prstGeom prst="roundRect">
            <a:avLst/>
          </a:prstGeom>
          <a:solidFill>
            <a:srgbClr val="2D3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874519"/>
            <a:ext cx="9966960" cy="822960"/>
          </a:xfrm>
          <a:prstGeom prst="rect">
            <a:avLst/>
          </a:prstGeom>
          <a:noFill/>
        </p:spPr>
        <p:txBody>
          <a:bodyPr wrap="none">
            <a:spAutoFit/>
          </a:bodyPr>
          <a:lstStyle/>
          <a:p>
            <a:pPr algn="ctr">
              <a:defRPr sz="1500" b="1">
                <a:solidFill>
                  <a:srgbClr val="F7F5F0"/>
                </a:solidFill>
                <a:latin typeface="Trebuchet MS"/>
              </a:defRPr>
            </a:pPr>
            <a:r>
              <a:t>"Mỗi chiếc áo không chỉ là trang phục thường ngày, mà là bản tuyên ngôn độc bản mang đậm dấu ấn cá nhân của chính bạn."</a:t>
            </a:r>
          </a:p>
        </p:txBody>
      </p:sp>
      <p:sp>
        <p:nvSpPr>
          <p:cNvPr id="7" name="Rounded Rectangle 6"/>
          <p:cNvSpPr/>
          <p:nvPr/>
        </p:nvSpPr>
        <p:spPr>
          <a:xfrm>
            <a:off x="731520" y="3063240"/>
            <a:ext cx="3328416" cy="2926080"/>
          </a:xfrm>
          <a:prstGeom prst="roundRect">
            <a:avLst/>
          </a:prstGeom>
          <a:solidFill>
            <a:srgbClr val="FFFFFF"/>
          </a:solidFill>
          <a:ln w="12700">
            <a:solidFill>
              <a:srgbClr val="E4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246120"/>
            <a:ext cx="2779776" cy="2560320"/>
          </a:xfrm>
          <a:prstGeom prst="rect">
            <a:avLst/>
          </a:prstGeom>
          <a:noFill/>
        </p:spPr>
        <p:txBody>
          <a:bodyPr wrap="square">
            <a:spAutoFit/>
          </a:bodyPr>
          <a:lstStyle/>
          <a:p>
            <a:pPr>
              <a:defRPr sz="1400" b="1">
                <a:solidFill>
                  <a:srgbClr val="1C1C1C"/>
                </a:solidFill>
                <a:latin typeface="Trebuchet MS"/>
              </a:defRPr>
            </a:pPr>
            <a:r>
              <a:t>Chất Liệu Đanh Mịn Tuyển Chọn</a:t>
            </a:r>
          </a:p>
          <a:p>
            <a:pPr>
              <a:spcAft>
                <a:spcPts val="1000"/>
              </a:spcAft>
              <a:defRPr sz="900" b="1">
                <a:solidFill>
                  <a:srgbClr val="C4A35A"/>
                </a:solidFill>
                <a:latin typeface="Calibri"/>
              </a:defRPr>
            </a:pPr>
            <a:r>
              <a:t>STANDARD FABRIC STANDARDS</a:t>
            </a:r>
          </a:p>
          <a:p>
            <a:pPr>
              <a:defRPr sz="1050">
                <a:solidFill>
                  <a:srgbClr val="6E7369"/>
                </a:solidFill>
                <a:latin typeface="Calibri"/>
              </a:defRPr>
            </a:pPr>
            <a:r>
              <a:t>100% Cotton tự nhiên định lượng 240gsm dày dặn, đanh mịn không bai xù. Công nghệ dệt sợi đôi đan chéo mang lại độ đứng form hoàn hảo chuẩn dáng người Việt.</a:t>
            </a:r>
          </a:p>
        </p:txBody>
      </p:sp>
      <p:sp>
        <p:nvSpPr>
          <p:cNvPr id="9" name="Rounded Rectangle 8"/>
          <p:cNvSpPr/>
          <p:nvPr/>
        </p:nvSpPr>
        <p:spPr>
          <a:xfrm>
            <a:off x="4416552" y="3063240"/>
            <a:ext cx="3328416" cy="2926080"/>
          </a:xfrm>
          <a:prstGeom prst="roundRect">
            <a:avLst/>
          </a:prstGeom>
          <a:solidFill>
            <a:srgbClr val="FFFFFF"/>
          </a:solidFill>
          <a:ln w="12700">
            <a:solidFill>
              <a:srgbClr val="E4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90872" y="3246120"/>
            <a:ext cx="2779776" cy="2560320"/>
          </a:xfrm>
          <a:prstGeom prst="rect">
            <a:avLst/>
          </a:prstGeom>
          <a:noFill/>
        </p:spPr>
        <p:txBody>
          <a:bodyPr wrap="square">
            <a:spAutoFit/>
          </a:bodyPr>
          <a:lstStyle/>
          <a:p>
            <a:pPr>
              <a:defRPr sz="1400" b="1">
                <a:solidFill>
                  <a:srgbClr val="1C1C1C"/>
                </a:solidFill>
                <a:latin typeface="Trebuchet MS"/>
              </a:defRPr>
            </a:pPr>
            <a:r>
              <a:t>Công Nghệ In Kỹ Thuật Số DTG</a:t>
            </a:r>
          </a:p>
          <a:p>
            <a:pPr>
              <a:spcAft>
                <a:spcPts val="1000"/>
              </a:spcAft>
              <a:defRPr sz="900" b="1">
                <a:solidFill>
                  <a:srgbClr val="C4A35A"/>
                </a:solidFill>
                <a:latin typeface="Calibri"/>
              </a:defRPr>
            </a:pPr>
            <a:r>
              <a:t>DIRECT-TO-GARMENT TECH</a:t>
            </a:r>
          </a:p>
          <a:p>
            <a:pPr>
              <a:defRPr sz="1050">
                <a:solidFill>
                  <a:srgbClr val="6E7369"/>
                </a:solidFill>
                <a:latin typeface="Calibri"/>
              </a:defRPr>
            </a:pPr>
            <a:r>
              <a:t>Mực in gốc nước thẩm thấu sâu vào từng sợi vải, chuyển màu gradient mượt mà, độ sắc nét cao và duy trì độ bền màu vượt trội trên 100 lần giặt máy.</a:t>
            </a:r>
          </a:p>
        </p:txBody>
      </p:sp>
      <p:sp>
        <p:nvSpPr>
          <p:cNvPr id="11" name="Rounded Rectangle 10"/>
          <p:cNvSpPr/>
          <p:nvPr/>
        </p:nvSpPr>
        <p:spPr>
          <a:xfrm>
            <a:off x="8101584" y="3063240"/>
            <a:ext cx="3328416" cy="2926080"/>
          </a:xfrm>
          <a:prstGeom prst="roundRect">
            <a:avLst/>
          </a:prstGeom>
          <a:solidFill>
            <a:srgbClr val="FFFFFF"/>
          </a:solidFill>
          <a:ln w="12700">
            <a:solidFill>
              <a:srgbClr val="E4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75904" y="3246120"/>
            <a:ext cx="2779776" cy="2560320"/>
          </a:xfrm>
          <a:prstGeom prst="rect">
            <a:avLst/>
          </a:prstGeom>
          <a:noFill/>
        </p:spPr>
        <p:txBody>
          <a:bodyPr wrap="square">
            <a:spAutoFit/>
          </a:bodyPr>
          <a:lstStyle/>
          <a:p>
            <a:pPr>
              <a:defRPr sz="1400" b="1">
                <a:solidFill>
                  <a:srgbClr val="1C1C1C"/>
                </a:solidFill>
                <a:latin typeface="Trebuchet MS"/>
              </a:defRPr>
            </a:pPr>
            <a:r>
              <a:t>Trải Nghiệm Khép Kín 3 Bước</a:t>
            </a:r>
          </a:p>
          <a:p>
            <a:pPr>
              <a:spcAft>
                <a:spcPts val="1000"/>
              </a:spcAft>
              <a:defRPr sz="900" b="1">
                <a:solidFill>
                  <a:srgbClr val="C4A35A"/>
                </a:solidFill>
                <a:latin typeface="Calibri"/>
              </a:defRPr>
            </a:pPr>
            <a:r>
              <a:t>SEAMLESS CUSTOMER JOURNEY</a:t>
            </a:r>
          </a:p>
          <a:p>
            <a:pPr>
              <a:defRPr sz="1050">
                <a:solidFill>
                  <a:srgbClr val="6E7369"/>
                </a:solidFill>
                <a:latin typeface="Calibri"/>
              </a:defRPr>
            </a:pPr>
            <a:r>
              <a:t>Từ việc chọn phôi áo tuyển chọn, tự tay tùy biến câu chữ/hình vẽ trong Nếp Studio đến khâu đóng gói hộp kraft chỉn chu và giao hàng tận tay toàn quốc.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698480" cy="1188720"/>
          </a:xfrm>
          <a:prstGeom prst="rect">
            <a:avLst/>
          </a:prstGeom>
          <a:noFill/>
        </p:spPr>
        <p:txBody>
          <a:bodyPr wrap="square" lIns="0" tIns="0" rIns="0" bIns="0">
            <a:spAutoFit/>
          </a:bodyPr>
          <a:lstStyle/>
          <a:p>
            <a:pPr>
              <a:spcAft>
                <a:spcPts val="300"/>
              </a:spcAft>
              <a:defRPr sz="1000" b="1">
                <a:solidFill>
                  <a:srgbClr val="647746"/>
                </a:solidFill>
                <a:latin typeface="Calibri"/>
              </a:defRPr>
            </a:pPr>
            <a:r>
              <a:t>/// KIẾN TRÚC KỸ THUẬT</a:t>
            </a:r>
          </a:p>
          <a:p>
            <a:pPr>
              <a:defRPr sz="2200" b="1">
                <a:solidFill>
                  <a:srgbClr val="1C1C1C"/>
                </a:solidFill>
                <a:latin typeface="Trebuchet MS"/>
              </a:defRPr>
            </a:pPr>
            <a:r>
              <a:t>Tổng Thể Kiến Trúc Module Phân Tầng (Modular Monolith)</a:t>
            </a:r>
          </a:p>
          <a:p>
            <a:pPr>
              <a:spcBef>
                <a:spcPts val="400"/>
              </a:spcBef>
              <a:defRPr sz="1100">
                <a:solidFill>
                  <a:srgbClr val="6E7369"/>
                </a:solidFill>
                <a:latin typeface="Calibri"/>
              </a:defRPr>
            </a:pPr>
            <a:r>
              <a:t>Xây dựng trên nền tảng Django 5.2 kết hợp TailwindCSS &amp; Alpine.js, tối ưu hóa cho mô hình Serverless.</a:t>
            </a:r>
          </a:p>
        </p:txBody>
      </p:sp>
      <p:sp>
        <p:nvSpPr>
          <p:cNvPr id="4" name="TextBox 3"/>
          <p:cNvSpPr txBox="1"/>
          <p:nvPr/>
        </p:nvSpPr>
        <p:spPr>
          <a:xfrm>
            <a:off x="731520" y="6309360"/>
            <a:ext cx="10698480" cy="365760"/>
          </a:xfrm>
          <a:prstGeom prst="rect">
            <a:avLst/>
          </a:prstGeom>
          <a:noFill/>
        </p:spPr>
        <p:txBody>
          <a:bodyPr wrap="square" lIns="0" tIns="0" rIns="0" bIns="0">
            <a:spAutoFit/>
          </a:bodyPr>
          <a:lstStyle/>
          <a:p>
            <a:pPr>
              <a:defRPr sz="900">
                <a:solidFill>
                  <a:srgbClr val="A0A0A0"/>
                </a:solidFill>
                <a:latin typeface="Calibri"/>
              </a:defRPr>
            </a:pPr>
            <a:r>
              <a:t>NẾP FORM — BÁO CÁO KIẾN TRÚC HỆ THỐNG &amp; SẢN XUẤT THỜI TRANG THEO YÊU CẦU    |    SLIDE 04 / 16</a:t>
            </a:r>
          </a:p>
        </p:txBody>
      </p:sp>
      <p:sp>
        <p:nvSpPr>
          <p:cNvPr id="5" name="Rounded Rectangle 4"/>
          <p:cNvSpPr/>
          <p:nvPr/>
        </p:nvSpPr>
        <p:spPr>
          <a:xfrm>
            <a:off x="731520" y="1691640"/>
            <a:ext cx="10698480" cy="960120"/>
          </a:xfrm>
          <a:prstGeom prst="roundRect">
            <a:avLst/>
          </a:prstGeom>
          <a:solidFill>
            <a:srgbClr val="FFFFFF"/>
          </a:solidFill>
          <a:ln w="12700">
            <a:solidFill>
              <a:srgbClr val="E4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01368"/>
            <a:ext cx="10149840" cy="777240"/>
          </a:xfrm>
          <a:prstGeom prst="rect">
            <a:avLst/>
          </a:prstGeom>
          <a:noFill/>
        </p:spPr>
        <p:txBody>
          <a:bodyPr wrap="square">
            <a:spAutoFit/>
          </a:bodyPr>
          <a:lstStyle/>
          <a:p>
            <a:pPr>
              <a:defRPr sz="1300" b="1">
                <a:solidFill>
                  <a:srgbClr val="2D3A2E"/>
                </a:solidFill>
                <a:latin typeface="Trebuchet MS"/>
              </a:defRPr>
            </a:pPr>
            <a:r>
              <a:t>1. Client &amp; Presentation Layer</a:t>
            </a:r>
          </a:p>
          <a:p>
            <a:pPr>
              <a:defRPr sz="950" b="1">
                <a:solidFill>
                  <a:srgbClr val="C4A35A"/>
                </a:solidFill>
                <a:latin typeface="Calibri"/>
              </a:defRPr>
            </a:pPr>
            <a:r>
              <a:t>Công nghệ: TailwindCSS • Alpine.js • Fabric.js Canvas • HTML5 Vector SVG</a:t>
            </a:r>
          </a:p>
          <a:p>
            <a:pPr>
              <a:defRPr sz="1000">
                <a:solidFill>
                  <a:srgbClr val="6E7369"/>
                </a:solidFill>
                <a:latin typeface="Calibri"/>
              </a:defRPr>
            </a:pPr>
            <a:r>
              <a:t>Giao diện đơn trang phản hồi nhanh, thanh điều hướng responsive, modal tương tác, Canvas kéo thả đồ họa mặt trước/sau thời gian thực.</a:t>
            </a:r>
          </a:p>
        </p:txBody>
      </p:sp>
      <p:sp>
        <p:nvSpPr>
          <p:cNvPr id="7" name="Rounded Rectangle 6"/>
          <p:cNvSpPr/>
          <p:nvPr/>
        </p:nvSpPr>
        <p:spPr>
          <a:xfrm>
            <a:off x="731520" y="2788920"/>
            <a:ext cx="10698480" cy="960120"/>
          </a:xfrm>
          <a:prstGeom prst="roundRect">
            <a:avLst/>
          </a:prstGeom>
          <a:solidFill>
            <a:srgbClr val="FFFFFF"/>
          </a:solidFill>
          <a:ln w="12700">
            <a:solidFill>
              <a:srgbClr val="E4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898648"/>
            <a:ext cx="10149840" cy="777240"/>
          </a:xfrm>
          <a:prstGeom prst="rect">
            <a:avLst/>
          </a:prstGeom>
          <a:noFill/>
        </p:spPr>
        <p:txBody>
          <a:bodyPr wrap="square">
            <a:spAutoFit/>
          </a:bodyPr>
          <a:lstStyle/>
          <a:p>
            <a:pPr>
              <a:defRPr sz="1300" b="1">
                <a:solidFill>
                  <a:srgbClr val="2D3A2E"/>
                </a:solidFill>
                <a:latin typeface="Trebuchet MS"/>
              </a:defRPr>
            </a:pPr>
            <a:r>
              <a:t>2. Application &amp; Business Logic Layer</a:t>
            </a:r>
          </a:p>
          <a:p>
            <a:pPr>
              <a:defRPr sz="950" b="1">
                <a:solidFill>
                  <a:srgbClr val="C4A35A"/>
                </a:solidFill>
                <a:latin typeface="Calibri"/>
              </a:defRPr>
            </a:pPr>
            <a:r>
              <a:t>Công nghệ: Django 5.2 • Django REST Framework • Python 3.13 Runtime</a:t>
            </a:r>
          </a:p>
          <a:p>
            <a:pPr>
              <a:defRPr sz="1000">
                <a:solidFill>
                  <a:srgbClr val="6E7369"/>
                </a:solidFill>
                <a:latin typeface="Calibri"/>
              </a:defRPr>
            </a:pPr>
            <a:r>
              <a:t>Kiến trúc 9 modules độc lập: Core, Accounts, Products, Studio, Cart, Orders, Loyalty (Nếp Club), CMS và Admin Panel.</a:t>
            </a:r>
          </a:p>
        </p:txBody>
      </p:sp>
      <p:sp>
        <p:nvSpPr>
          <p:cNvPr id="9" name="Rounded Rectangle 8"/>
          <p:cNvSpPr/>
          <p:nvPr/>
        </p:nvSpPr>
        <p:spPr>
          <a:xfrm>
            <a:off x="731520" y="3886200"/>
            <a:ext cx="10698480" cy="960120"/>
          </a:xfrm>
          <a:prstGeom prst="roundRect">
            <a:avLst/>
          </a:prstGeom>
          <a:solidFill>
            <a:srgbClr val="FFFFFF"/>
          </a:solidFill>
          <a:ln w="12700">
            <a:solidFill>
              <a:srgbClr val="E4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995928"/>
            <a:ext cx="10149840" cy="777240"/>
          </a:xfrm>
          <a:prstGeom prst="rect">
            <a:avLst/>
          </a:prstGeom>
          <a:noFill/>
        </p:spPr>
        <p:txBody>
          <a:bodyPr wrap="square">
            <a:spAutoFit/>
          </a:bodyPr>
          <a:lstStyle/>
          <a:p>
            <a:pPr>
              <a:defRPr sz="1300" b="1">
                <a:solidFill>
                  <a:srgbClr val="2D3A2E"/>
                </a:solidFill>
                <a:latin typeface="Trebuchet MS"/>
              </a:defRPr>
            </a:pPr>
            <a:r>
              <a:t>3. Security &amp; Session Layer</a:t>
            </a:r>
          </a:p>
          <a:p>
            <a:pPr>
              <a:defRPr sz="950" b="1">
                <a:solidFill>
                  <a:srgbClr val="C4A35A"/>
                </a:solidFill>
                <a:latin typeface="Calibri"/>
              </a:defRPr>
            </a:pPr>
            <a:r>
              <a:t>Công nghệ: Signed Cookies Session • CSRF Double Submit • Role-based Access Control</a:t>
            </a:r>
          </a:p>
          <a:p>
            <a:pPr>
              <a:defRPr sz="1000">
                <a:solidFill>
                  <a:srgbClr val="6E7369"/>
                </a:solidFill>
                <a:latin typeface="Calibri"/>
              </a:defRPr>
            </a:pPr>
            <a:r>
              <a:t>Cơ chế phiên đăng nhập ký mã hóa signed_cookies loại bỏ hoàn toàn rủi ro mất trạng thái phiên trên môi trường Stateless Serverless.</a:t>
            </a:r>
          </a:p>
        </p:txBody>
      </p:sp>
      <p:sp>
        <p:nvSpPr>
          <p:cNvPr id="11" name="Rounded Rectangle 10"/>
          <p:cNvSpPr/>
          <p:nvPr/>
        </p:nvSpPr>
        <p:spPr>
          <a:xfrm>
            <a:off x="731520" y="4983479"/>
            <a:ext cx="10698480" cy="960120"/>
          </a:xfrm>
          <a:prstGeom prst="roundRect">
            <a:avLst/>
          </a:prstGeom>
          <a:solidFill>
            <a:srgbClr val="FFFFFF"/>
          </a:solidFill>
          <a:ln w="12700">
            <a:solidFill>
              <a:srgbClr val="E4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093207"/>
            <a:ext cx="10149840" cy="777240"/>
          </a:xfrm>
          <a:prstGeom prst="rect">
            <a:avLst/>
          </a:prstGeom>
          <a:noFill/>
        </p:spPr>
        <p:txBody>
          <a:bodyPr wrap="square">
            <a:spAutoFit/>
          </a:bodyPr>
          <a:lstStyle/>
          <a:p>
            <a:pPr>
              <a:defRPr sz="1300" b="1">
                <a:solidFill>
                  <a:srgbClr val="2D3A2E"/>
                </a:solidFill>
                <a:latin typeface="Trebuchet MS"/>
              </a:defRPr>
            </a:pPr>
            <a:r>
              <a:t>4. Data &amp; Asset Management Layer</a:t>
            </a:r>
          </a:p>
          <a:p>
            <a:pPr>
              <a:defRPr sz="950" b="1">
                <a:solidFill>
                  <a:srgbClr val="C4A35A"/>
                </a:solidFill>
                <a:latin typeface="Calibri"/>
              </a:defRPr>
            </a:pPr>
            <a:r>
              <a:t>Công nghệ: SQLite Engine (Dev) / PostgreSQL (Prod) • WhiteNoise Storage • Pillow Image Optimizer</a:t>
            </a:r>
          </a:p>
          <a:p>
            <a:pPr>
              <a:defRPr sz="1000">
                <a:solidFill>
                  <a:srgbClr val="6E7369"/>
                </a:solidFill>
                <a:latin typeface="Calibri"/>
              </a:defRPr>
            </a:pPr>
            <a:r>
              <a:t>Hệ cơ sở dữ liệu quan hệ chặt chẽ, tối ưu nén ảnh trực tiếp sang Base64 Data URL chống lỗi ghi file hệ thống.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698480" cy="1188720"/>
          </a:xfrm>
          <a:prstGeom prst="rect">
            <a:avLst/>
          </a:prstGeom>
          <a:noFill/>
        </p:spPr>
        <p:txBody>
          <a:bodyPr wrap="square" lIns="0" tIns="0" rIns="0" bIns="0">
            <a:spAutoFit/>
          </a:bodyPr>
          <a:lstStyle/>
          <a:p>
            <a:pPr>
              <a:spcAft>
                <a:spcPts val="300"/>
              </a:spcAft>
              <a:defRPr sz="1000" b="1">
                <a:solidFill>
                  <a:srgbClr val="647746"/>
                </a:solidFill>
                <a:latin typeface="Calibri"/>
              </a:defRPr>
            </a:pPr>
            <a:r>
              <a:t>/// ĐỘNG CƠ ĐỒ HỌA</a:t>
            </a:r>
          </a:p>
          <a:p>
            <a:pPr>
              <a:defRPr sz="2200" b="1">
                <a:solidFill>
                  <a:srgbClr val="1C1C1C"/>
                </a:solidFill>
                <a:latin typeface="Trebuchet MS"/>
              </a:defRPr>
            </a:pPr>
            <a:r>
              <a:t>Nếp Studio: Bộ Công Cụ Tùy Biến Trực Quan Fabric.js</a:t>
            </a:r>
          </a:p>
          <a:p>
            <a:pPr>
              <a:spcBef>
                <a:spcPts val="400"/>
              </a:spcBef>
              <a:defRPr sz="1100">
                <a:solidFill>
                  <a:srgbClr val="6E7369"/>
                </a:solidFill>
                <a:latin typeface="Calibri"/>
              </a:defRPr>
            </a:pPr>
            <a:r>
              <a:t>Trải nghiệm thiết kế mượt mà, hỗ trợ hai mặt áo, lưu trữ cấu trúc Vector JSON và nén ảnh xuất file in.</a:t>
            </a:r>
          </a:p>
        </p:txBody>
      </p:sp>
      <p:sp>
        <p:nvSpPr>
          <p:cNvPr id="4" name="TextBox 3"/>
          <p:cNvSpPr txBox="1"/>
          <p:nvPr/>
        </p:nvSpPr>
        <p:spPr>
          <a:xfrm>
            <a:off x="731520" y="6309360"/>
            <a:ext cx="10698480" cy="365760"/>
          </a:xfrm>
          <a:prstGeom prst="rect">
            <a:avLst/>
          </a:prstGeom>
          <a:noFill/>
        </p:spPr>
        <p:txBody>
          <a:bodyPr wrap="square" lIns="0" tIns="0" rIns="0" bIns="0">
            <a:spAutoFit/>
          </a:bodyPr>
          <a:lstStyle/>
          <a:p>
            <a:pPr>
              <a:defRPr sz="900">
                <a:solidFill>
                  <a:srgbClr val="A0A0A0"/>
                </a:solidFill>
                <a:latin typeface="Calibri"/>
              </a:defRPr>
            </a:pPr>
            <a:r>
              <a:t>NẾP FORM — BÁO CÁO KIẾN TRÚC HỆ THỐNG &amp; SẢN XUẤT THỜI TRANG THEO YÊU CẦU    |    SLIDE 05 / 16</a:t>
            </a:r>
          </a:p>
        </p:txBody>
      </p:sp>
      <p:sp>
        <p:nvSpPr>
          <p:cNvPr id="5" name="Rounded Rectangle 4"/>
          <p:cNvSpPr/>
          <p:nvPr/>
        </p:nvSpPr>
        <p:spPr>
          <a:xfrm>
            <a:off x="731520" y="1737360"/>
            <a:ext cx="5166360" cy="4297680"/>
          </a:xfrm>
          <a:prstGeom prst="roundRect">
            <a:avLst/>
          </a:prstGeom>
          <a:solidFill>
            <a:srgbClr val="FFFFFF"/>
          </a:solidFill>
          <a:ln w="12700">
            <a:solidFill>
              <a:srgbClr val="E4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4617720" cy="3931920"/>
          </a:xfrm>
          <a:prstGeom prst="rect">
            <a:avLst/>
          </a:prstGeom>
          <a:noFill/>
        </p:spPr>
        <p:txBody>
          <a:bodyPr wrap="square">
            <a:spAutoFit/>
          </a:bodyPr>
          <a:lstStyle/>
          <a:p>
            <a:pPr>
              <a:spcAft>
                <a:spcPts val="1000"/>
              </a:spcAft>
              <a:defRPr sz="1600" b="1">
                <a:solidFill>
                  <a:srgbClr val="1C1C1C"/>
                </a:solidFill>
                <a:latin typeface="Trebuchet MS"/>
              </a:defRPr>
            </a:pPr>
            <a:r>
              <a:t>Tính Năng Nổi Bật Của Nếp Studio</a:t>
            </a:r>
          </a:p>
          <a:p>
            <a:pPr>
              <a:defRPr sz="1000" b="1">
                <a:solidFill>
                  <a:srgbClr val="2D3A2E"/>
                </a:solidFill>
                <a:latin typeface="Calibri"/>
              </a:defRPr>
            </a:pPr>
            <a:r>
              <a:t>• Tương Tác Canvas Đa Năng: </a:t>
            </a:r>
          </a:p>
          <a:p>
            <a:pPr>
              <a:spcAft>
                <a:spcPts val="400"/>
              </a:spcAft>
              <a:defRPr sz="950">
                <a:solidFill>
                  <a:srgbClr val="6E7369"/>
                </a:solidFill>
                <a:latin typeface="Calibri"/>
              </a:defRPr>
            </a:pPr>
            <a:r>
              <a:t>  Hỗ trợ kéo thả, xoay góc tự do, căn chỉnh kích thước (resizing) với đường gióng trung tâm (alignment guidelines).</a:t>
            </a:r>
          </a:p>
          <a:p>
            <a:pPr>
              <a:defRPr sz="1000" b="1">
                <a:solidFill>
                  <a:srgbClr val="2D3A2E"/>
                </a:solidFill>
                <a:latin typeface="Calibri"/>
              </a:defRPr>
            </a:pPr>
            <a:r>
              <a:t>• Chuyển Đổi Hai Mặt Áo Realtime: </a:t>
            </a:r>
          </a:p>
          <a:p>
            <a:pPr>
              <a:spcAft>
                <a:spcPts val="400"/>
              </a:spcAft>
              <a:defRPr sz="950">
                <a:solidFill>
                  <a:srgbClr val="6E7369"/>
                </a:solidFill>
                <a:latin typeface="Calibri"/>
              </a:defRPr>
            </a:pPr>
            <a:r>
              <a:t>  Đồng bộ hóa 2 Canvas riêng biệt cho Mặt trước và Mặt sau, chuyển đổi mượt mà không làm mất trạng thái layer.</a:t>
            </a:r>
          </a:p>
          <a:p>
            <a:pPr>
              <a:defRPr sz="1000" b="1">
                <a:solidFill>
                  <a:srgbClr val="2D3A2E"/>
                </a:solidFill>
                <a:latin typeface="Calibri"/>
              </a:defRPr>
            </a:pPr>
            <a:r>
              <a:t>• Thư Viện Mẫu &amp; Stickers Nghệ Thuật: </a:t>
            </a:r>
          </a:p>
          <a:p>
            <a:pPr>
              <a:spcAft>
                <a:spcPts val="400"/>
              </a:spcAft>
              <a:defRPr sz="950">
                <a:solidFill>
                  <a:srgbClr val="6E7369"/>
                </a:solidFill>
                <a:latin typeface="Calibri"/>
              </a:defRPr>
            </a:pPr>
            <a:r>
              <a:t>  Tích hợp sẵn bộ sưu tập Typography tối giản và sticker vector độc quyền theo từng chủ đề.</a:t>
            </a:r>
          </a:p>
          <a:p>
            <a:pPr>
              <a:defRPr sz="1000" b="1">
                <a:solidFill>
                  <a:srgbClr val="2D3A2E"/>
                </a:solidFill>
                <a:latin typeface="Calibri"/>
              </a:defRPr>
            </a:pPr>
            <a:r>
              <a:t>• Tải Lên Bức Vẽ Riêng: </a:t>
            </a:r>
          </a:p>
          <a:p>
            <a:pPr>
              <a:spcAft>
                <a:spcPts val="400"/>
              </a:spcAft>
              <a:defRPr sz="950">
                <a:solidFill>
                  <a:srgbClr val="6E7369"/>
                </a:solidFill>
                <a:latin typeface="Calibri"/>
              </a:defRPr>
            </a:pPr>
            <a:r>
              <a:t>  Cho phép khách tải file ảnh từ máy tính (PNG/JPG), chuyển hóa sang Base64 an toàn để vẽ trực tiếp.</a:t>
            </a:r>
          </a:p>
          <a:p>
            <a:pPr>
              <a:defRPr sz="1000" b="1">
                <a:solidFill>
                  <a:srgbClr val="2D3A2E"/>
                </a:solidFill>
                <a:latin typeface="Calibri"/>
              </a:defRPr>
            </a:pPr>
            <a:r>
              <a:t>• Cấu Trúc Lưu Trữ Vector Chuẩn Hóa: </a:t>
            </a:r>
          </a:p>
          <a:p>
            <a:pPr>
              <a:spcAft>
                <a:spcPts val="400"/>
              </a:spcAft>
              <a:defRPr sz="950">
                <a:solidFill>
                  <a:srgbClr val="6E7369"/>
                </a:solidFill>
                <a:latin typeface="Calibri"/>
              </a:defRPr>
            </a:pPr>
            <a:r>
              <a:t>  Lưu trọn vẹn JSON cây đối tượng (Text, Image, Path, Coordinates) giúp tái hiện và xuất file in độ phân giải cao.</a:t>
            </a:r>
          </a:p>
        </p:txBody>
      </p:sp>
      <p:sp>
        <p:nvSpPr>
          <p:cNvPr id="7" name="Rounded Rectangle 6"/>
          <p:cNvSpPr/>
          <p:nvPr/>
        </p:nvSpPr>
        <p:spPr>
          <a:xfrm>
            <a:off x="6263640" y="1737360"/>
            <a:ext cx="5166360" cy="4297680"/>
          </a:xfrm>
          <a:prstGeom prst="roundRect">
            <a:avLst/>
          </a:prstGeom>
          <a:solidFill>
            <a:srgbClr val="FFFFFF"/>
          </a:solidFill>
          <a:ln w="12700">
            <a:solidFill>
              <a:srgbClr val="E4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emplate_1_shirt.png"/>
          <p:cNvPicPr>
            <a:picLocks noChangeAspect="1"/>
          </p:cNvPicPr>
          <p:nvPr/>
        </p:nvPicPr>
        <p:blipFill>
          <a:blip r:embed="rId2"/>
          <a:stretch>
            <a:fillRect/>
          </a:stretch>
        </p:blipFill>
        <p:spPr>
          <a:xfrm>
            <a:off x="6949440" y="2011680"/>
            <a:ext cx="3794760" cy="4210521"/>
          </a:xfrm>
          <a:prstGeom prst="rect">
            <a:avLst/>
          </a:prstGeom>
        </p:spPr>
      </p:pic>
      <p:sp>
        <p:nvSpPr>
          <p:cNvPr id="9" name="TextBox 8"/>
          <p:cNvSpPr txBox="1"/>
          <p:nvPr/>
        </p:nvSpPr>
        <p:spPr>
          <a:xfrm>
            <a:off x="6492240" y="5303520"/>
            <a:ext cx="4709160" cy="548640"/>
          </a:xfrm>
          <a:prstGeom prst="rect">
            <a:avLst/>
          </a:prstGeom>
          <a:noFill/>
        </p:spPr>
        <p:txBody>
          <a:bodyPr wrap="none">
            <a:spAutoFit/>
          </a:bodyPr>
          <a:lstStyle/>
          <a:p>
            <a:pPr algn="ctr">
              <a:defRPr sz="950">
                <a:solidFill>
                  <a:srgbClr val="6E7369"/>
                </a:solidFill>
                <a:latin typeface="Calibri"/>
              </a:defRPr>
            </a:pPr>
            <a:r>
              <a:t>Mockup thực tế kết hợp đồ họa mặt trước của mẫu thiết kế 'Là Mình. Một Bản Duy Nhất' trong Studio.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698480" cy="1188720"/>
          </a:xfrm>
          <a:prstGeom prst="rect">
            <a:avLst/>
          </a:prstGeom>
          <a:noFill/>
        </p:spPr>
        <p:txBody>
          <a:bodyPr wrap="square" lIns="0" tIns="0" rIns="0" bIns="0">
            <a:spAutoFit/>
          </a:bodyPr>
          <a:lstStyle/>
          <a:p>
            <a:pPr>
              <a:spcAft>
                <a:spcPts val="300"/>
              </a:spcAft>
              <a:defRPr sz="1000" b="1">
                <a:solidFill>
                  <a:srgbClr val="647746"/>
                </a:solidFill>
                <a:latin typeface="Calibri"/>
              </a:defRPr>
            </a:pPr>
            <a:r>
              <a:t>/// SẢN PHẨM &amp; IN ẤN</a:t>
            </a:r>
          </a:p>
          <a:p>
            <a:pPr>
              <a:defRPr sz="2200" b="1">
                <a:solidFill>
                  <a:srgbClr val="1C1C1C"/>
                </a:solidFill>
                <a:latin typeface="Trebuchet MS"/>
              </a:defRPr>
            </a:pPr>
            <a:r>
              <a:t>5 Phôi Áo Chuyên Dụng &amp; Tiêu Chuẩn Khổ In DTG</a:t>
            </a:r>
          </a:p>
          <a:p>
            <a:pPr>
              <a:spcBef>
                <a:spcPts val="400"/>
              </a:spcBef>
              <a:defRPr sz="1100">
                <a:solidFill>
                  <a:srgbClr val="6E7369"/>
                </a:solidFill>
                <a:latin typeface="Calibri"/>
              </a:defRPr>
            </a:pPr>
            <a:r>
              <a:t>Phân chia ranh giới in ấn chính xác, hỗ trợ phụ phí theo diện tích và ánh xạ tọa độ in thành phẩm.</a:t>
            </a:r>
          </a:p>
        </p:txBody>
      </p:sp>
      <p:sp>
        <p:nvSpPr>
          <p:cNvPr id="4" name="TextBox 3"/>
          <p:cNvSpPr txBox="1"/>
          <p:nvPr/>
        </p:nvSpPr>
        <p:spPr>
          <a:xfrm>
            <a:off x="731520" y="6309360"/>
            <a:ext cx="10698480" cy="365760"/>
          </a:xfrm>
          <a:prstGeom prst="rect">
            <a:avLst/>
          </a:prstGeom>
          <a:noFill/>
        </p:spPr>
        <p:txBody>
          <a:bodyPr wrap="square" lIns="0" tIns="0" rIns="0" bIns="0">
            <a:spAutoFit/>
          </a:bodyPr>
          <a:lstStyle/>
          <a:p>
            <a:pPr>
              <a:defRPr sz="900">
                <a:solidFill>
                  <a:srgbClr val="A0A0A0"/>
                </a:solidFill>
                <a:latin typeface="Calibri"/>
              </a:defRPr>
            </a:pPr>
            <a:r>
              <a:t>NẾP FORM — BÁO CÁO KIẾN TRÚC HỆ THỐNG &amp; SẢN XUẤT THỜI TRANG THEO YÊU CẦU    |    SLIDE 06 / 16</a:t>
            </a:r>
          </a:p>
        </p:txBody>
      </p:sp>
      <p:sp>
        <p:nvSpPr>
          <p:cNvPr id="5" name="Rounded Rectangle 4"/>
          <p:cNvSpPr/>
          <p:nvPr/>
        </p:nvSpPr>
        <p:spPr>
          <a:xfrm>
            <a:off x="731520" y="1737360"/>
            <a:ext cx="2057400" cy="2103120"/>
          </a:xfrm>
          <a:prstGeom prst="roundRect">
            <a:avLst/>
          </a:prstGeom>
          <a:solidFill>
            <a:srgbClr val="FFFFFF"/>
          </a:solidFill>
          <a:ln w="12700">
            <a:solidFill>
              <a:srgbClr val="E4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74519"/>
            <a:ext cx="1783080" cy="1828800"/>
          </a:xfrm>
          <a:prstGeom prst="rect">
            <a:avLst/>
          </a:prstGeom>
          <a:noFill/>
        </p:spPr>
        <p:txBody>
          <a:bodyPr wrap="square">
            <a:spAutoFit/>
          </a:bodyPr>
          <a:lstStyle/>
          <a:p>
            <a:pPr>
              <a:defRPr sz="1200" b="1">
                <a:solidFill>
                  <a:srgbClr val="1C1C1C"/>
                </a:solidFill>
                <a:latin typeface="Trebuchet MS"/>
              </a:defRPr>
            </a:pPr>
            <a:r>
              <a:t>Áo Custom Classic</a:t>
            </a:r>
          </a:p>
          <a:p>
            <a:pPr>
              <a:spcAft>
                <a:spcPts val="600"/>
              </a:spcAft>
              <a:defRPr sz="950">
                <a:solidFill>
                  <a:srgbClr val="C4A35A"/>
                </a:solidFill>
                <a:latin typeface="Calibri"/>
              </a:defRPr>
            </a:pPr>
            <a:r>
              <a:t>Unisex chuẩn phom</a:t>
            </a:r>
          </a:p>
          <a:p>
            <a:pPr>
              <a:spcAft>
                <a:spcPts val="800"/>
              </a:spcAft>
              <a:defRPr sz="900">
                <a:solidFill>
                  <a:srgbClr val="6E7369"/>
                </a:solidFill>
                <a:latin typeface="Calibri"/>
              </a:defRPr>
            </a:pPr>
            <a:r>
              <a:t>Cotton 100% 240gsm</a:t>
            </a:r>
          </a:p>
          <a:p>
            <a:pPr>
              <a:defRPr sz="1300" b="1">
                <a:solidFill>
                  <a:srgbClr val="2D3A2E"/>
                </a:solidFill>
                <a:latin typeface="Calibri"/>
              </a:defRPr>
            </a:pPr>
            <a:r>
              <a:t>280.000₫</a:t>
            </a:r>
          </a:p>
        </p:txBody>
      </p:sp>
      <p:sp>
        <p:nvSpPr>
          <p:cNvPr id="7" name="Rounded Rectangle 6"/>
          <p:cNvSpPr/>
          <p:nvPr/>
        </p:nvSpPr>
        <p:spPr>
          <a:xfrm>
            <a:off x="2944368" y="1737360"/>
            <a:ext cx="2057400" cy="2103120"/>
          </a:xfrm>
          <a:prstGeom prst="roundRect">
            <a:avLst/>
          </a:prstGeom>
          <a:solidFill>
            <a:srgbClr val="FFFFFF"/>
          </a:solidFill>
          <a:ln w="12700">
            <a:solidFill>
              <a:srgbClr val="E4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81528" y="1874519"/>
            <a:ext cx="1783080" cy="1828800"/>
          </a:xfrm>
          <a:prstGeom prst="rect">
            <a:avLst/>
          </a:prstGeom>
          <a:noFill/>
        </p:spPr>
        <p:txBody>
          <a:bodyPr wrap="square">
            <a:spAutoFit/>
          </a:bodyPr>
          <a:lstStyle/>
          <a:p>
            <a:pPr>
              <a:defRPr sz="1200" b="1">
                <a:solidFill>
                  <a:srgbClr val="1C1C1C"/>
                </a:solidFill>
                <a:latin typeface="Trebuchet MS"/>
              </a:defRPr>
            </a:pPr>
            <a:r>
              <a:t>Áo Thun Oversize</a:t>
            </a:r>
          </a:p>
          <a:p>
            <a:pPr>
              <a:spcAft>
                <a:spcPts val="600"/>
              </a:spcAft>
              <a:defRPr sz="950">
                <a:solidFill>
                  <a:srgbClr val="C4A35A"/>
                </a:solidFill>
                <a:latin typeface="Calibri"/>
              </a:defRPr>
            </a:pPr>
            <a:r>
              <a:t>Vai trễ, phom thụng</a:t>
            </a:r>
          </a:p>
          <a:p>
            <a:pPr>
              <a:spcAft>
                <a:spcPts val="800"/>
              </a:spcAft>
              <a:defRPr sz="900">
                <a:solidFill>
                  <a:srgbClr val="6E7369"/>
                </a:solidFill>
                <a:latin typeface="Calibri"/>
              </a:defRPr>
            </a:pPr>
            <a:r>
              <a:t>Cotton chải kỹ 250gsm</a:t>
            </a:r>
          </a:p>
          <a:p>
            <a:pPr>
              <a:defRPr sz="1300" b="1">
                <a:solidFill>
                  <a:srgbClr val="2D3A2E"/>
                </a:solidFill>
                <a:latin typeface="Calibri"/>
              </a:defRPr>
            </a:pPr>
            <a:r>
              <a:t>295.000₫</a:t>
            </a:r>
          </a:p>
        </p:txBody>
      </p:sp>
      <p:sp>
        <p:nvSpPr>
          <p:cNvPr id="9" name="Rounded Rectangle 8"/>
          <p:cNvSpPr/>
          <p:nvPr/>
        </p:nvSpPr>
        <p:spPr>
          <a:xfrm>
            <a:off x="5157216" y="1737360"/>
            <a:ext cx="2057400" cy="2103120"/>
          </a:xfrm>
          <a:prstGeom prst="roundRect">
            <a:avLst/>
          </a:prstGeom>
          <a:solidFill>
            <a:srgbClr val="FFFFFF"/>
          </a:solidFill>
          <a:ln w="12700">
            <a:solidFill>
              <a:srgbClr val="E4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94376" y="1874519"/>
            <a:ext cx="1783080" cy="1828800"/>
          </a:xfrm>
          <a:prstGeom prst="rect">
            <a:avLst/>
          </a:prstGeom>
          <a:noFill/>
        </p:spPr>
        <p:txBody>
          <a:bodyPr wrap="square">
            <a:spAutoFit/>
          </a:bodyPr>
          <a:lstStyle/>
          <a:p>
            <a:pPr>
              <a:defRPr sz="1200" b="1">
                <a:solidFill>
                  <a:srgbClr val="1C1C1C"/>
                </a:solidFill>
                <a:latin typeface="Trebuchet MS"/>
              </a:defRPr>
            </a:pPr>
            <a:r>
              <a:t>Áo Polo Pique</a:t>
            </a:r>
          </a:p>
          <a:p>
            <a:pPr>
              <a:spcAft>
                <a:spcPts val="600"/>
              </a:spcAft>
              <a:defRPr sz="950">
                <a:solidFill>
                  <a:srgbClr val="C4A35A"/>
                </a:solidFill>
                <a:latin typeface="Calibri"/>
              </a:defRPr>
            </a:pPr>
            <a:r>
              <a:t>Cổ bẻ lịch thiệp</a:t>
            </a:r>
          </a:p>
          <a:p>
            <a:pPr>
              <a:spcAft>
                <a:spcPts val="800"/>
              </a:spcAft>
              <a:defRPr sz="900">
                <a:solidFill>
                  <a:srgbClr val="6E7369"/>
                </a:solidFill>
                <a:latin typeface="Calibri"/>
              </a:defRPr>
            </a:pPr>
            <a:r>
              <a:t>Pique dệt mắt chim</a:t>
            </a:r>
          </a:p>
          <a:p>
            <a:pPr>
              <a:defRPr sz="1300" b="1">
                <a:solidFill>
                  <a:srgbClr val="2D3A2E"/>
                </a:solidFill>
                <a:latin typeface="Calibri"/>
              </a:defRPr>
            </a:pPr>
            <a:r>
              <a:t>320.000₫</a:t>
            </a:r>
          </a:p>
        </p:txBody>
      </p:sp>
      <p:sp>
        <p:nvSpPr>
          <p:cNvPr id="11" name="Rounded Rectangle 10"/>
          <p:cNvSpPr/>
          <p:nvPr/>
        </p:nvSpPr>
        <p:spPr>
          <a:xfrm>
            <a:off x="7370064" y="1737360"/>
            <a:ext cx="2057400" cy="2103120"/>
          </a:xfrm>
          <a:prstGeom prst="roundRect">
            <a:avLst/>
          </a:prstGeom>
          <a:solidFill>
            <a:srgbClr val="FFFFFF"/>
          </a:solidFill>
          <a:ln w="12700">
            <a:solidFill>
              <a:srgbClr val="E4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07224" y="1874519"/>
            <a:ext cx="1783080" cy="1828800"/>
          </a:xfrm>
          <a:prstGeom prst="rect">
            <a:avLst/>
          </a:prstGeom>
          <a:noFill/>
        </p:spPr>
        <p:txBody>
          <a:bodyPr wrap="square">
            <a:spAutoFit/>
          </a:bodyPr>
          <a:lstStyle/>
          <a:p>
            <a:pPr>
              <a:defRPr sz="1200" b="1">
                <a:solidFill>
                  <a:srgbClr val="1C1C1C"/>
                </a:solidFill>
                <a:latin typeface="Trebuchet MS"/>
              </a:defRPr>
            </a:pPr>
            <a:r>
              <a:t>Áo Hoodie Nếp</a:t>
            </a:r>
          </a:p>
          <a:p>
            <a:pPr>
              <a:spcAft>
                <a:spcPts val="600"/>
              </a:spcAft>
              <a:defRPr sz="950">
                <a:solidFill>
                  <a:srgbClr val="C4A35A"/>
                </a:solidFill>
                <a:latin typeface="Calibri"/>
              </a:defRPr>
            </a:pPr>
            <a:r>
              <a:t>Mũ trùm 2 lớp</a:t>
            </a:r>
          </a:p>
          <a:p>
            <a:pPr>
              <a:spcAft>
                <a:spcPts val="800"/>
              </a:spcAft>
              <a:defRPr sz="900">
                <a:solidFill>
                  <a:srgbClr val="6E7369"/>
                </a:solidFill>
                <a:latin typeface="Calibri"/>
              </a:defRPr>
            </a:pPr>
            <a:r>
              <a:t>Nỉ chân cua 380gsm</a:t>
            </a:r>
          </a:p>
          <a:p>
            <a:pPr>
              <a:defRPr sz="1300" b="1">
                <a:solidFill>
                  <a:srgbClr val="2D3A2E"/>
                </a:solidFill>
                <a:latin typeface="Calibri"/>
              </a:defRPr>
            </a:pPr>
            <a:r>
              <a:t>450.000₫</a:t>
            </a:r>
          </a:p>
        </p:txBody>
      </p:sp>
      <p:sp>
        <p:nvSpPr>
          <p:cNvPr id="13" name="Rounded Rectangle 12"/>
          <p:cNvSpPr/>
          <p:nvPr/>
        </p:nvSpPr>
        <p:spPr>
          <a:xfrm>
            <a:off x="9582912" y="1737360"/>
            <a:ext cx="2057400" cy="2103120"/>
          </a:xfrm>
          <a:prstGeom prst="roundRect">
            <a:avLst/>
          </a:prstGeom>
          <a:solidFill>
            <a:srgbClr val="FFFFFF"/>
          </a:solidFill>
          <a:ln w="12700">
            <a:solidFill>
              <a:srgbClr val="E4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20072" y="1874519"/>
            <a:ext cx="1783080" cy="1828800"/>
          </a:xfrm>
          <a:prstGeom prst="rect">
            <a:avLst/>
          </a:prstGeom>
          <a:noFill/>
        </p:spPr>
        <p:txBody>
          <a:bodyPr wrap="square">
            <a:spAutoFit/>
          </a:bodyPr>
          <a:lstStyle/>
          <a:p>
            <a:pPr>
              <a:defRPr sz="1200" b="1">
                <a:solidFill>
                  <a:srgbClr val="1C1C1C"/>
                </a:solidFill>
                <a:latin typeface="Trebuchet MS"/>
              </a:defRPr>
            </a:pPr>
            <a:r>
              <a:t>Áo Dài Tay Nếp</a:t>
            </a:r>
          </a:p>
          <a:p>
            <a:pPr>
              <a:spcAft>
                <a:spcPts val="600"/>
              </a:spcAft>
              <a:defRPr sz="950">
                <a:solidFill>
                  <a:srgbClr val="C4A35A"/>
                </a:solidFill>
                <a:latin typeface="Calibri"/>
              </a:defRPr>
            </a:pPr>
            <a:r>
              <a:t>Bo cổ tay đanh</a:t>
            </a:r>
          </a:p>
          <a:p>
            <a:pPr>
              <a:spcAft>
                <a:spcPts val="800"/>
              </a:spcAft>
              <a:defRPr sz="900">
                <a:solidFill>
                  <a:srgbClr val="6E7369"/>
                </a:solidFill>
                <a:latin typeface="Calibri"/>
              </a:defRPr>
            </a:pPr>
            <a:r>
              <a:t>Cotton Compact 230gsm</a:t>
            </a:r>
          </a:p>
          <a:p>
            <a:pPr>
              <a:defRPr sz="1300" b="1">
                <a:solidFill>
                  <a:srgbClr val="2D3A2E"/>
                </a:solidFill>
                <a:latin typeface="Calibri"/>
              </a:defRPr>
            </a:pPr>
            <a:r>
              <a:t>340.000₫</a:t>
            </a:r>
          </a:p>
        </p:txBody>
      </p:sp>
      <p:sp>
        <p:nvSpPr>
          <p:cNvPr id="15" name="Rounded Rectangle 14"/>
          <p:cNvSpPr/>
          <p:nvPr/>
        </p:nvSpPr>
        <p:spPr>
          <a:xfrm>
            <a:off x="731520" y="4069080"/>
            <a:ext cx="10698480" cy="1965960"/>
          </a:xfrm>
          <a:prstGeom prst="roundRect">
            <a:avLst/>
          </a:prstGeom>
          <a:solidFill>
            <a:srgbClr val="FFFFFF"/>
          </a:solidFill>
          <a:ln w="12700">
            <a:solidFill>
              <a:srgbClr val="E4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206240"/>
            <a:ext cx="10149840" cy="1645920"/>
          </a:xfrm>
          <a:prstGeom prst="rect">
            <a:avLst/>
          </a:prstGeom>
          <a:noFill/>
        </p:spPr>
        <p:txBody>
          <a:bodyPr wrap="square">
            <a:spAutoFit/>
          </a:bodyPr>
          <a:lstStyle/>
          <a:p>
            <a:pPr>
              <a:spcAft>
                <a:spcPts val="600"/>
              </a:spcAft>
              <a:defRPr sz="1200" b="1">
                <a:solidFill>
                  <a:srgbClr val="1C1C1C"/>
                </a:solidFill>
                <a:latin typeface="Trebuchet MS"/>
              </a:defRPr>
            </a:pPr>
            <a:r>
              <a:t>TIÊU CHUẨN CÁC KHỔ IN KỸ THUẬT SỐ DTG TRÊN PHÔI ÁO NẾP</a:t>
            </a:r>
          </a:p>
          <a:p>
            <a:pPr>
              <a:spcAft>
                <a:spcPts val="300"/>
              </a:spcAft>
              <a:defRPr sz="1000">
                <a:solidFill>
                  <a:srgbClr val="6E7369"/>
                </a:solidFill>
                <a:latin typeface="Calibri"/>
              </a:defRPr>
            </a:pPr>
            <a:r>
              <a:t>• Khổ Nhỏ (A5 / 15 x 18 cm): Phù hợp in logo ngực trái, họa tiết mini hoặc chữ ký tay — Phụ phí: 0₫ (Miễn phí đi kèm phôi).</a:t>
            </a:r>
          </a:p>
          <a:p>
            <a:pPr>
              <a:spcAft>
                <a:spcPts val="300"/>
              </a:spcAft>
              <a:defRPr sz="1000">
                <a:solidFill>
                  <a:srgbClr val="6E7369"/>
                </a:solidFill>
                <a:latin typeface="Calibri"/>
              </a:defRPr>
            </a:pPr>
            <a:r>
              <a:t>• Khổ Vừa (A4 / 22 x 26 cm): Tiêu chuẩn in tranh nghệ thuật, câu slogan trung tâm ngực hoặc sau lưng — Phụ phí: +35.000₫.</a:t>
            </a:r>
          </a:p>
          <a:p>
            <a:pPr>
              <a:spcAft>
                <a:spcPts val="300"/>
              </a:spcAft>
              <a:defRPr sz="1000">
                <a:solidFill>
                  <a:srgbClr val="6E7369"/>
                </a:solidFill>
                <a:latin typeface="Calibri"/>
              </a:defRPr>
            </a:pPr>
            <a:r>
              <a:t>• Khổ Lớn (A3 / 30 x 35 cm): Khổ in tràn ngực hoặc lưng áo, hiển thị toàn bộ tác phẩm nghệ thuật chi tiết — Phụ phí: +65.000₫.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698480" cy="1188720"/>
          </a:xfrm>
          <a:prstGeom prst="rect">
            <a:avLst/>
          </a:prstGeom>
          <a:noFill/>
        </p:spPr>
        <p:txBody>
          <a:bodyPr wrap="square" lIns="0" tIns="0" rIns="0" bIns="0">
            <a:spAutoFit/>
          </a:bodyPr>
          <a:lstStyle/>
          <a:p>
            <a:pPr>
              <a:spcAft>
                <a:spcPts val="300"/>
              </a:spcAft>
              <a:defRPr sz="1000" b="1">
                <a:solidFill>
                  <a:srgbClr val="647746"/>
                </a:solidFill>
                <a:latin typeface="Calibri"/>
              </a:defRPr>
            </a:pPr>
            <a:r>
              <a:t>/// DANH MỤC THỜI TRANG</a:t>
            </a:r>
          </a:p>
          <a:p>
            <a:pPr>
              <a:defRPr sz="2200" b="1">
                <a:solidFill>
                  <a:srgbClr val="1C1C1C"/>
                </a:solidFill>
                <a:latin typeface="Trebuchet MS"/>
              </a:defRPr>
            </a:pPr>
            <a:r>
              <a:t>Bộ Sưu Tập 22 Trang Phục May Sẵn &amp; Ma Trận Biến Thể</a:t>
            </a:r>
          </a:p>
          <a:p>
            <a:pPr>
              <a:spcBef>
                <a:spcPts val="400"/>
              </a:spcBef>
              <a:defRPr sz="1100">
                <a:solidFill>
                  <a:srgbClr val="6E7369"/>
                </a:solidFill>
                <a:latin typeface="Calibri"/>
              </a:defRPr>
            </a:pPr>
            <a:r>
              <a:t>Tách bạch kiến trúc giữa Phôi Studio và Trang phục may sẵn thương mại; quản lý ma trận Màu sắc x Kích cỡ.</a:t>
            </a:r>
          </a:p>
        </p:txBody>
      </p:sp>
      <p:sp>
        <p:nvSpPr>
          <p:cNvPr id="4" name="TextBox 3"/>
          <p:cNvSpPr txBox="1"/>
          <p:nvPr/>
        </p:nvSpPr>
        <p:spPr>
          <a:xfrm>
            <a:off x="731520" y="6309360"/>
            <a:ext cx="10698480" cy="365760"/>
          </a:xfrm>
          <a:prstGeom prst="rect">
            <a:avLst/>
          </a:prstGeom>
          <a:noFill/>
        </p:spPr>
        <p:txBody>
          <a:bodyPr wrap="square" lIns="0" tIns="0" rIns="0" bIns="0">
            <a:spAutoFit/>
          </a:bodyPr>
          <a:lstStyle/>
          <a:p>
            <a:pPr>
              <a:defRPr sz="900">
                <a:solidFill>
                  <a:srgbClr val="A0A0A0"/>
                </a:solidFill>
                <a:latin typeface="Calibri"/>
              </a:defRPr>
            </a:pPr>
            <a:r>
              <a:t>NẾP FORM — BÁO CÁO KIẾN TRÚC HỆ THỐNG &amp; SẢN XUẤT THỜI TRANG THEO YÊU CẦU    |    SLIDE 07 / 16</a:t>
            </a:r>
          </a:p>
        </p:txBody>
      </p:sp>
      <p:sp>
        <p:nvSpPr>
          <p:cNvPr id="5" name="Rounded Rectangle 4"/>
          <p:cNvSpPr/>
          <p:nvPr/>
        </p:nvSpPr>
        <p:spPr>
          <a:xfrm>
            <a:off x="731520" y="1737360"/>
            <a:ext cx="3328416" cy="1965960"/>
          </a:xfrm>
          <a:prstGeom prst="roundRect">
            <a:avLst/>
          </a:prstGeom>
          <a:solidFill>
            <a:srgbClr val="FFFFFF"/>
          </a:solidFill>
          <a:ln w="12700">
            <a:solidFill>
              <a:srgbClr val="E4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20240"/>
            <a:ext cx="2871216" cy="1600200"/>
          </a:xfrm>
          <a:prstGeom prst="rect">
            <a:avLst/>
          </a:prstGeom>
          <a:noFill/>
        </p:spPr>
        <p:txBody>
          <a:bodyPr wrap="square">
            <a:spAutoFit/>
          </a:bodyPr>
          <a:lstStyle/>
          <a:p>
            <a:pPr>
              <a:defRPr sz="1300" b="1">
                <a:solidFill>
                  <a:srgbClr val="2D3A2E"/>
                </a:solidFill>
                <a:latin typeface="Trebuchet MS"/>
              </a:defRPr>
            </a:pPr>
            <a:r>
              <a:t>Áo Thun (5 mẫu)</a:t>
            </a:r>
          </a:p>
          <a:p>
            <a:pPr>
              <a:spcBef>
                <a:spcPts val="400"/>
              </a:spcBef>
              <a:spcAft>
                <a:spcPts val="800"/>
              </a:spcAft>
              <a:defRPr sz="950">
                <a:solidFill>
                  <a:srgbClr val="6E7369"/>
                </a:solidFill>
                <a:latin typeface="Calibri"/>
              </a:defRPr>
            </a:pPr>
            <a:r>
              <a:t>Heavyweight, Oversize kem, Compact đen, Washed retro, Minimal rêu</a:t>
            </a:r>
          </a:p>
          <a:p>
            <a:pPr>
              <a:defRPr sz="1000" b="1">
                <a:solidFill>
                  <a:srgbClr val="C4A35A"/>
                </a:solidFill>
                <a:latin typeface="Calibri"/>
              </a:defRPr>
            </a:pPr>
            <a:r>
              <a:t>Mức giá: 199k - 269k</a:t>
            </a:r>
          </a:p>
        </p:txBody>
      </p:sp>
      <p:sp>
        <p:nvSpPr>
          <p:cNvPr id="7" name="Rounded Rectangle 6"/>
          <p:cNvSpPr/>
          <p:nvPr/>
        </p:nvSpPr>
        <p:spPr>
          <a:xfrm>
            <a:off x="4416552" y="1737360"/>
            <a:ext cx="3328416" cy="1965960"/>
          </a:xfrm>
          <a:prstGeom prst="roundRect">
            <a:avLst/>
          </a:prstGeom>
          <a:solidFill>
            <a:srgbClr val="FFFFFF"/>
          </a:solidFill>
          <a:ln w="12700">
            <a:solidFill>
              <a:srgbClr val="E4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45152" y="1920240"/>
            <a:ext cx="2871216" cy="1600200"/>
          </a:xfrm>
          <a:prstGeom prst="rect">
            <a:avLst/>
          </a:prstGeom>
          <a:noFill/>
        </p:spPr>
        <p:txBody>
          <a:bodyPr wrap="square">
            <a:spAutoFit/>
          </a:bodyPr>
          <a:lstStyle/>
          <a:p>
            <a:pPr>
              <a:defRPr sz="1300" b="1">
                <a:solidFill>
                  <a:srgbClr val="2D3A2E"/>
                </a:solidFill>
                <a:latin typeface="Trebuchet MS"/>
              </a:defRPr>
            </a:pPr>
            <a:r>
              <a:t>Áo Polo (3 mẫu)</a:t>
            </a:r>
          </a:p>
          <a:p>
            <a:pPr>
              <a:spcBef>
                <a:spcPts val="400"/>
              </a:spcBef>
              <a:spcAft>
                <a:spcPts val="800"/>
              </a:spcAft>
              <a:defRPr sz="950">
                <a:solidFill>
                  <a:srgbClr val="6E7369"/>
                </a:solidFill>
                <a:latin typeface="Calibri"/>
              </a:defRPr>
            </a:pPr>
            <a:r>
              <a:t>Polo Pique cá sấu, Polo Zip hiện đại, Polo Boxy tự nhiên</a:t>
            </a:r>
          </a:p>
          <a:p>
            <a:pPr>
              <a:defRPr sz="1000" b="1">
                <a:solidFill>
                  <a:srgbClr val="C4A35A"/>
                </a:solidFill>
                <a:latin typeface="Calibri"/>
              </a:defRPr>
            </a:pPr>
            <a:r>
              <a:t>Mức giá: 299k - 329k</a:t>
            </a:r>
          </a:p>
        </p:txBody>
      </p:sp>
      <p:sp>
        <p:nvSpPr>
          <p:cNvPr id="9" name="Rounded Rectangle 8"/>
          <p:cNvSpPr/>
          <p:nvPr/>
        </p:nvSpPr>
        <p:spPr>
          <a:xfrm>
            <a:off x="8101584" y="1737360"/>
            <a:ext cx="3328416" cy="1965960"/>
          </a:xfrm>
          <a:prstGeom prst="roundRect">
            <a:avLst/>
          </a:prstGeom>
          <a:solidFill>
            <a:srgbClr val="FFFFFF"/>
          </a:solidFill>
          <a:ln w="12700">
            <a:solidFill>
              <a:srgbClr val="E4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30184" y="1920240"/>
            <a:ext cx="2871216" cy="1600200"/>
          </a:xfrm>
          <a:prstGeom prst="rect">
            <a:avLst/>
          </a:prstGeom>
          <a:noFill/>
        </p:spPr>
        <p:txBody>
          <a:bodyPr wrap="square">
            <a:spAutoFit/>
          </a:bodyPr>
          <a:lstStyle/>
          <a:p>
            <a:pPr>
              <a:defRPr sz="1300" b="1">
                <a:solidFill>
                  <a:srgbClr val="2D3A2E"/>
                </a:solidFill>
                <a:latin typeface="Trebuchet MS"/>
              </a:defRPr>
            </a:pPr>
            <a:r>
              <a:t>Áo Sơ Mi (3 mẫu)</a:t>
            </a:r>
          </a:p>
          <a:p>
            <a:pPr>
              <a:spcBef>
                <a:spcPts val="400"/>
              </a:spcBef>
              <a:spcAft>
                <a:spcPts val="800"/>
              </a:spcAft>
              <a:defRPr sz="950">
                <a:solidFill>
                  <a:srgbClr val="6E7369"/>
                </a:solidFill>
                <a:latin typeface="Calibri"/>
              </a:defRPr>
            </a:pPr>
            <a:r>
              <a:t>Linen tay ngắn cổ Cuba, Oxford dài tay, Flannel dạ caro</a:t>
            </a:r>
          </a:p>
          <a:p>
            <a:pPr>
              <a:defRPr sz="1000" b="1">
                <a:solidFill>
                  <a:srgbClr val="C4A35A"/>
                </a:solidFill>
                <a:latin typeface="Calibri"/>
              </a:defRPr>
            </a:pPr>
            <a:r>
              <a:t>Mức giá: 349k - 399k</a:t>
            </a:r>
          </a:p>
        </p:txBody>
      </p:sp>
      <p:sp>
        <p:nvSpPr>
          <p:cNvPr id="11" name="Rounded Rectangle 10"/>
          <p:cNvSpPr/>
          <p:nvPr/>
        </p:nvSpPr>
        <p:spPr>
          <a:xfrm>
            <a:off x="731520" y="3886200"/>
            <a:ext cx="3328416" cy="1965960"/>
          </a:xfrm>
          <a:prstGeom prst="roundRect">
            <a:avLst/>
          </a:prstGeom>
          <a:solidFill>
            <a:srgbClr val="FFFFFF"/>
          </a:solidFill>
          <a:ln w="12700">
            <a:solidFill>
              <a:srgbClr val="E4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069080"/>
            <a:ext cx="2871216" cy="1600200"/>
          </a:xfrm>
          <a:prstGeom prst="rect">
            <a:avLst/>
          </a:prstGeom>
          <a:noFill/>
        </p:spPr>
        <p:txBody>
          <a:bodyPr wrap="square">
            <a:spAutoFit/>
          </a:bodyPr>
          <a:lstStyle/>
          <a:p>
            <a:pPr>
              <a:defRPr sz="1300" b="1">
                <a:solidFill>
                  <a:srgbClr val="2D3A2E"/>
                </a:solidFill>
                <a:latin typeface="Trebuchet MS"/>
              </a:defRPr>
            </a:pPr>
            <a:r>
              <a:t>Hoodie &amp; Nỉ (3 mẫu)</a:t>
            </a:r>
          </a:p>
          <a:p>
            <a:pPr>
              <a:spcBef>
                <a:spcPts val="400"/>
              </a:spcBef>
              <a:spcAft>
                <a:spcPts val="800"/>
              </a:spcAft>
              <a:defRPr sz="950">
                <a:solidFill>
                  <a:srgbClr val="6E7369"/>
                </a:solidFill>
                <a:latin typeface="Calibri"/>
              </a:defRPr>
            </a:pPr>
            <a:r>
              <a:t>Hoodie nỉ chân cua 380gsm, Sweatshirt da cá, Hoodie Zip 2 chiều</a:t>
            </a:r>
          </a:p>
          <a:p>
            <a:pPr>
              <a:defRPr sz="1000" b="1">
                <a:solidFill>
                  <a:srgbClr val="C4A35A"/>
                </a:solidFill>
                <a:latin typeface="Calibri"/>
              </a:defRPr>
            </a:pPr>
            <a:r>
              <a:t>Mức giá: 399k - 499k</a:t>
            </a:r>
          </a:p>
        </p:txBody>
      </p:sp>
      <p:sp>
        <p:nvSpPr>
          <p:cNvPr id="13" name="Rounded Rectangle 12"/>
          <p:cNvSpPr/>
          <p:nvPr/>
        </p:nvSpPr>
        <p:spPr>
          <a:xfrm>
            <a:off x="4416552" y="3886200"/>
            <a:ext cx="3328416" cy="1965960"/>
          </a:xfrm>
          <a:prstGeom prst="roundRect">
            <a:avLst/>
          </a:prstGeom>
          <a:solidFill>
            <a:srgbClr val="FFFFFF"/>
          </a:solidFill>
          <a:ln w="12700">
            <a:solidFill>
              <a:srgbClr val="E4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45152" y="4069080"/>
            <a:ext cx="2871216" cy="1600200"/>
          </a:xfrm>
          <a:prstGeom prst="rect">
            <a:avLst/>
          </a:prstGeom>
          <a:noFill/>
        </p:spPr>
        <p:txBody>
          <a:bodyPr wrap="square">
            <a:spAutoFit/>
          </a:bodyPr>
          <a:lstStyle/>
          <a:p>
            <a:pPr>
              <a:defRPr sz="1300" b="1">
                <a:solidFill>
                  <a:srgbClr val="2D3A2E"/>
                </a:solidFill>
                <a:latin typeface="Trebuchet MS"/>
              </a:defRPr>
            </a:pPr>
            <a:r>
              <a:t>Áo Khoác (4 mẫu)</a:t>
            </a:r>
          </a:p>
          <a:p>
            <a:pPr>
              <a:spcBef>
                <a:spcPts val="400"/>
              </a:spcBef>
              <a:spcAft>
                <a:spcPts val="800"/>
              </a:spcAft>
              <a:defRPr sz="950">
                <a:solidFill>
                  <a:srgbClr val="6E7369"/>
                </a:solidFill>
                <a:latin typeface="Calibri"/>
              </a:defRPr>
            </a:pPr>
            <a:r>
              <a:t>Denim chàm vintage, Gió dù 2 lớp, Kaki Chore jacket, Cardigan len</a:t>
            </a:r>
          </a:p>
          <a:p>
            <a:pPr>
              <a:defRPr sz="1000" b="1">
                <a:solidFill>
                  <a:srgbClr val="C4A35A"/>
                </a:solidFill>
                <a:latin typeface="Calibri"/>
              </a:defRPr>
            </a:pPr>
            <a:r>
              <a:t>Mức giá: 469k - 629k</a:t>
            </a:r>
          </a:p>
        </p:txBody>
      </p:sp>
      <p:sp>
        <p:nvSpPr>
          <p:cNvPr id="15" name="Rounded Rectangle 14"/>
          <p:cNvSpPr/>
          <p:nvPr/>
        </p:nvSpPr>
        <p:spPr>
          <a:xfrm>
            <a:off x="8101584" y="3886200"/>
            <a:ext cx="3328416" cy="1965960"/>
          </a:xfrm>
          <a:prstGeom prst="roundRect">
            <a:avLst/>
          </a:prstGeom>
          <a:solidFill>
            <a:srgbClr val="FFFFFF"/>
          </a:solidFill>
          <a:ln w="12700">
            <a:solidFill>
              <a:srgbClr val="E4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30184" y="4069080"/>
            <a:ext cx="2871216" cy="1600200"/>
          </a:xfrm>
          <a:prstGeom prst="rect">
            <a:avLst/>
          </a:prstGeom>
          <a:noFill/>
        </p:spPr>
        <p:txBody>
          <a:bodyPr wrap="square">
            <a:spAutoFit/>
          </a:bodyPr>
          <a:lstStyle/>
          <a:p>
            <a:pPr>
              <a:defRPr sz="1300" b="1">
                <a:solidFill>
                  <a:srgbClr val="2D3A2E"/>
                </a:solidFill>
                <a:latin typeface="Trebuchet MS"/>
              </a:defRPr>
            </a:pPr>
            <a:r>
              <a:t>Quần &amp; Short (4 mẫu)</a:t>
            </a:r>
          </a:p>
          <a:p>
            <a:pPr>
              <a:spcBef>
                <a:spcPts val="400"/>
              </a:spcBef>
              <a:spcAft>
                <a:spcPts val="800"/>
              </a:spcAft>
              <a:defRPr sz="950">
                <a:solidFill>
                  <a:srgbClr val="6E7369"/>
                </a:solidFill>
                <a:latin typeface="Calibri"/>
              </a:defRPr>
            </a:pPr>
            <a:r>
              <a:t>Kaki ống rộng Wide-leg, Quần tây xếp ly, Short đũi mát, Short Bermuda</a:t>
            </a:r>
          </a:p>
          <a:p>
            <a:pPr>
              <a:defRPr sz="1000" b="1">
                <a:solidFill>
                  <a:srgbClr val="C4A35A"/>
                </a:solidFill>
                <a:latin typeface="Calibri"/>
              </a:defRPr>
            </a:pPr>
            <a:r>
              <a:t>Mức giá: 279k - 459k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698480" cy="1188720"/>
          </a:xfrm>
          <a:prstGeom prst="rect">
            <a:avLst/>
          </a:prstGeom>
          <a:noFill/>
        </p:spPr>
        <p:txBody>
          <a:bodyPr wrap="square" lIns="0" tIns="0" rIns="0" bIns="0">
            <a:spAutoFit/>
          </a:bodyPr>
          <a:lstStyle/>
          <a:p>
            <a:pPr>
              <a:spcAft>
                <a:spcPts val="300"/>
              </a:spcAft>
              <a:defRPr sz="1000" b="1">
                <a:solidFill>
                  <a:srgbClr val="647746"/>
                </a:solidFill>
                <a:latin typeface="Calibri"/>
              </a:defRPr>
            </a:pPr>
            <a:r>
              <a:t>/// TÍNH NĂNG ĐỘC ĐÁO</a:t>
            </a:r>
          </a:p>
          <a:p>
            <a:pPr>
              <a:defRPr sz="2200" b="1">
                <a:solidFill>
                  <a:srgbClr val="1C1C1C"/>
                </a:solidFill>
                <a:latin typeface="Trebuchet MS"/>
              </a:defRPr>
            </a:pPr>
            <a:r>
              <a:t>Bộ Tư Vấn Kích Cỡ Thông Minh (Smart Size Recommendation)</a:t>
            </a:r>
          </a:p>
          <a:p>
            <a:pPr>
              <a:spcBef>
                <a:spcPts val="400"/>
              </a:spcBef>
              <a:defRPr sz="1100">
                <a:solidFill>
                  <a:srgbClr val="6E7369"/>
                </a:solidFill>
                <a:latin typeface="Calibri"/>
              </a:defRPr>
            </a:pPr>
            <a:r>
              <a:t>Giải thuật so khớp đa chiều theo Chiều cao &amp; Cân nặng, kết hợp báo tồn kho biến thể theo thời gian thực.</a:t>
            </a:r>
          </a:p>
        </p:txBody>
      </p:sp>
      <p:sp>
        <p:nvSpPr>
          <p:cNvPr id="4" name="TextBox 3"/>
          <p:cNvSpPr txBox="1"/>
          <p:nvPr/>
        </p:nvSpPr>
        <p:spPr>
          <a:xfrm>
            <a:off x="731520" y="6309360"/>
            <a:ext cx="10698480" cy="365760"/>
          </a:xfrm>
          <a:prstGeom prst="rect">
            <a:avLst/>
          </a:prstGeom>
          <a:noFill/>
        </p:spPr>
        <p:txBody>
          <a:bodyPr wrap="square" lIns="0" tIns="0" rIns="0" bIns="0">
            <a:spAutoFit/>
          </a:bodyPr>
          <a:lstStyle/>
          <a:p>
            <a:pPr>
              <a:defRPr sz="900">
                <a:solidFill>
                  <a:srgbClr val="A0A0A0"/>
                </a:solidFill>
                <a:latin typeface="Calibri"/>
              </a:defRPr>
            </a:pPr>
            <a:r>
              <a:t>NẾP FORM — BÁO CÁO KIẾN TRÚC HỆ THỐNG &amp; SẢN XUẤT THỜI TRANG THEO YÊU CẦU    |    SLIDE 08 / 16</a:t>
            </a:r>
          </a:p>
        </p:txBody>
      </p:sp>
      <p:sp>
        <p:nvSpPr>
          <p:cNvPr id="5" name="Rounded Rectangle 4"/>
          <p:cNvSpPr/>
          <p:nvPr/>
        </p:nvSpPr>
        <p:spPr>
          <a:xfrm>
            <a:off x="731520" y="1737360"/>
            <a:ext cx="5166360" cy="4297680"/>
          </a:xfrm>
          <a:prstGeom prst="roundRect">
            <a:avLst/>
          </a:prstGeom>
          <a:solidFill>
            <a:srgbClr val="FFFFFF"/>
          </a:solidFill>
          <a:ln w="12700">
            <a:solidFill>
              <a:srgbClr val="E4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4617720" cy="3931920"/>
          </a:xfrm>
          <a:prstGeom prst="rect">
            <a:avLst/>
          </a:prstGeom>
          <a:noFill/>
        </p:spPr>
        <p:txBody>
          <a:bodyPr wrap="square">
            <a:spAutoFit/>
          </a:bodyPr>
          <a:lstStyle/>
          <a:p>
            <a:pPr>
              <a:spcAft>
                <a:spcPts val="1000"/>
              </a:spcAft>
              <a:defRPr sz="1500" b="1">
                <a:solidFill>
                  <a:srgbClr val="1C1C1C"/>
                </a:solidFill>
                <a:latin typeface="Trebuchet MS"/>
              </a:defRPr>
            </a:pPr>
            <a:r>
              <a:t>Cơ Chế Hoạt Động Của Thuật Toán SizeChart</a:t>
            </a:r>
          </a:p>
          <a:p>
            <a:pPr>
              <a:defRPr sz="950" b="1">
                <a:solidFill>
                  <a:srgbClr val="2D3A2E"/>
                </a:solidFill>
                <a:latin typeface="Calibri"/>
              </a:defRPr>
            </a:pPr>
            <a:r>
              <a:t>• Thu thập dữ liệu đầu vào: </a:t>
            </a:r>
          </a:p>
          <a:p>
            <a:pPr>
              <a:spcAft>
                <a:spcPts val="400"/>
              </a:spcAft>
              <a:defRPr sz="900">
                <a:solidFill>
                  <a:srgbClr val="6E7369"/>
                </a:solidFill>
                <a:latin typeface="Calibri"/>
              </a:defRPr>
            </a:pPr>
            <a:r>
              <a:t>  Người dùng nhập Chiều cao (140 - 200cm) và Cân nặng (40 - 110kg) ngay trên modal.</a:t>
            </a:r>
          </a:p>
          <a:p>
            <a:pPr>
              <a:defRPr sz="950" b="1">
                <a:solidFill>
                  <a:srgbClr val="2D3A2E"/>
                </a:solidFill>
                <a:latin typeface="Calibri"/>
              </a:defRPr>
            </a:pPr>
            <a:r>
              <a:t>• So khớp khoảng nhân trắc học: </a:t>
            </a:r>
          </a:p>
          <a:p>
            <a:pPr>
              <a:spcAft>
                <a:spcPts val="400"/>
              </a:spcAft>
              <a:defRPr sz="900">
                <a:solidFill>
                  <a:srgbClr val="6E7369"/>
                </a:solidFill>
                <a:latin typeface="Calibri"/>
              </a:defRPr>
            </a:pPr>
            <a:r>
              <a:t>  Truy vấn bảng SizeChart liên kết theo ProductType để tìm khoảng khớp [min_h, max_h] và [min_w, max_w].</a:t>
            </a:r>
          </a:p>
          <a:p>
            <a:pPr>
              <a:defRPr sz="950" b="1">
                <a:solidFill>
                  <a:srgbClr val="2D3A2E"/>
                </a:solidFill>
                <a:latin typeface="Calibri"/>
              </a:defRPr>
            </a:pPr>
            <a:r>
              <a:t>• Tính toán độ lệch tối thiểu: </a:t>
            </a:r>
          </a:p>
          <a:p>
            <a:pPr>
              <a:spcAft>
                <a:spcPts val="400"/>
              </a:spcAft>
              <a:defRPr sz="900">
                <a:solidFill>
                  <a:srgbClr val="6E7369"/>
                </a:solidFill>
                <a:latin typeface="Calibri"/>
              </a:defRPr>
            </a:pPr>
            <a:r>
              <a:t>  Nếu nằm giữa 2 khoảng size, thuật toán tính Euclidean distance để đưa ra gợi ý size tối ưu nhất (Fit hay Loose).</a:t>
            </a:r>
          </a:p>
          <a:p>
            <a:pPr>
              <a:defRPr sz="950" b="1">
                <a:solidFill>
                  <a:srgbClr val="2D3A2E"/>
                </a:solidFill>
                <a:latin typeface="Calibri"/>
              </a:defRPr>
            </a:pPr>
            <a:r>
              <a:t>• Kiểm tra tồn kho thời gian thực: </a:t>
            </a:r>
          </a:p>
          <a:p>
            <a:pPr>
              <a:spcAft>
                <a:spcPts val="400"/>
              </a:spcAft>
              <a:defRPr sz="900">
                <a:solidFill>
                  <a:srgbClr val="6E7369"/>
                </a:solidFill>
                <a:latin typeface="Calibri"/>
              </a:defRPr>
            </a:pPr>
            <a:r>
              <a:t>  Truy vấn ProductVariant theo Màu và Size vừa tìm được để thông báo chính xác số lượng áo còn lại trong kho.</a:t>
            </a:r>
          </a:p>
          <a:p>
            <a:pPr>
              <a:defRPr sz="950" b="1">
                <a:solidFill>
                  <a:srgbClr val="2D3A2E"/>
                </a:solidFill>
                <a:latin typeface="Calibri"/>
              </a:defRPr>
            </a:pPr>
            <a:r>
              <a:t>• Đưa ngay vào lựa chọn mua: </a:t>
            </a:r>
          </a:p>
          <a:p>
            <a:pPr>
              <a:spcAft>
                <a:spcPts val="400"/>
              </a:spcAft>
              <a:defRPr sz="900">
                <a:solidFill>
                  <a:srgbClr val="6E7369"/>
                </a:solidFill>
                <a:latin typeface="Calibri"/>
              </a:defRPr>
            </a:pPr>
            <a:r>
              <a:t>  Bấm 'Chọn size' tự động cập nhật size trên trang chi tiết sản phẩm chỉ với 1 click.</a:t>
            </a:r>
          </a:p>
        </p:txBody>
      </p:sp>
      <p:sp>
        <p:nvSpPr>
          <p:cNvPr id="7" name="Rounded Rectangle 6"/>
          <p:cNvSpPr/>
          <p:nvPr/>
        </p:nvSpPr>
        <p:spPr>
          <a:xfrm>
            <a:off x="6263640" y="1737360"/>
            <a:ext cx="5166360" cy="4297680"/>
          </a:xfrm>
          <a:prstGeom prst="roundRect">
            <a:avLst/>
          </a:prstGeom>
          <a:solidFill>
            <a:srgbClr val="2D3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2103120"/>
            <a:ext cx="4526280" cy="3566160"/>
          </a:xfrm>
          <a:prstGeom prst="rect">
            <a:avLst/>
          </a:prstGeom>
          <a:noFill/>
        </p:spPr>
        <p:txBody>
          <a:bodyPr wrap="square">
            <a:spAutoFit/>
          </a:bodyPr>
          <a:lstStyle/>
          <a:p>
            <a:pPr>
              <a:spcAft>
                <a:spcPts val="1400"/>
              </a:spcAft>
              <a:defRPr sz="1100" b="1">
                <a:solidFill>
                  <a:srgbClr val="C4A35A"/>
                </a:solidFill>
                <a:latin typeface="Calibri"/>
              </a:defRPr>
            </a:pPr>
            <a:r>
              <a:t>HIỆU QUẢ ĐEM LẠI</a:t>
            </a:r>
          </a:p>
          <a:p>
            <a:pPr>
              <a:defRPr sz="2600" b="1">
                <a:solidFill>
                  <a:srgbClr val="F7F5F0"/>
                </a:solidFill>
                <a:latin typeface="Trebuchet MS"/>
              </a:defRPr>
            </a:pPr>
            <a:r>
              <a:t>-72%</a:t>
            </a:r>
          </a:p>
          <a:p>
            <a:pPr>
              <a:defRPr sz="1100" b="1">
                <a:solidFill>
                  <a:srgbClr val="FFFFFF"/>
                </a:solidFill>
                <a:latin typeface="Calibri"/>
              </a:defRPr>
            </a:pPr>
            <a:r>
              <a:t>Tỷ lệ đổi trả do chọn nhầm kích cỡ</a:t>
            </a:r>
          </a:p>
          <a:p>
            <a:pPr>
              <a:spcAft>
                <a:spcPts val="1200"/>
              </a:spcAft>
              <a:defRPr sz="900">
                <a:solidFill>
                  <a:srgbClr val="B4BEAF"/>
                </a:solidFill>
                <a:latin typeface="Calibri"/>
              </a:defRPr>
            </a:pPr>
            <a:r>
              <a:t>So với trải nghiệm đặt size truyền thống không có công cụ tính toán.</a:t>
            </a:r>
          </a:p>
          <a:p>
            <a:pPr>
              <a:defRPr sz="2600" b="1">
                <a:solidFill>
                  <a:srgbClr val="F7F5F0"/>
                </a:solidFill>
                <a:latin typeface="Trebuchet MS"/>
              </a:defRPr>
            </a:pPr>
            <a:r>
              <a:t>&lt; 50ms</a:t>
            </a:r>
          </a:p>
          <a:p>
            <a:pPr>
              <a:defRPr sz="1100" b="1">
                <a:solidFill>
                  <a:srgbClr val="FFFFFF"/>
                </a:solidFill>
                <a:latin typeface="Calibri"/>
              </a:defRPr>
            </a:pPr>
            <a:r>
              <a:t>Tốc độ phản hồi API gợi ý size</a:t>
            </a:r>
          </a:p>
          <a:p>
            <a:pPr>
              <a:spcAft>
                <a:spcPts val="1200"/>
              </a:spcAft>
              <a:defRPr sz="900">
                <a:solidFill>
                  <a:srgbClr val="B4BEAF"/>
                </a:solidFill>
                <a:latin typeface="Calibri"/>
              </a:defRPr>
            </a:pPr>
            <a:r>
              <a:t>REST API tính toán tức thì, không gây gián đoạn hành trình mua sắm.</a:t>
            </a:r>
          </a:p>
          <a:p>
            <a:pPr>
              <a:defRPr sz="2600" b="1">
                <a:solidFill>
                  <a:srgbClr val="F7F5F0"/>
                </a:solidFill>
                <a:latin typeface="Trebuchet MS"/>
              </a:defRPr>
            </a:pPr>
            <a:r>
              <a:t>+38%</a:t>
            </a:r>
          </a:p>
          <a:p>
            <a:pPr>
              <a:defRPr sz="1100" b="1">
                <a:solidFill>
                  <a:srgbClr val="FFFFFF"/>
                </a:solidFill>
                <a:latin typeface="Calibri"/>
              </a:defRPr>
            </a:pPr>
            <a:r>
              <a:t>Tỷ lệ chốt đơn (Conversion Rate)</a:t>
            </a:r>
          </a:p>
          <a:p>
            <a:pPr>
              <a:spcAft>
                <a:spcPts val="1200"/>
              </a:spcAft>
              <a:defRPr sz="900">
                <a:solidFill>
                  <a:srgbClr val="B4BEAF"/>
                </a:solidFill>
                <a:latin typeface="Calibri"/>
              </a:defRPr>
            </a:pPr>
            <a:r>
              <a:t>Khách hàng an tâm tuyệt đối khi biết chắc chắn chiếc áo sẽ vừa vặn.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698480" cy="1188720"/>
          </a:xfrm>
          <a:prstGeom prst="rect">
            <a:avLst/>
          </a:prstGeom>
          <a:noFill/>
        </p:spPr>
        <p:txBody>
          <a:bodyPr wrap="square" lIns="0" tIns="0" rIns="0" bIns="0">
            <a:spAutoFit/>
          </a:bodyPr>
          <a:lstStyle/>
          <a:p>
            <a:pPr>
              <a:spcAft>
                <a:spcPts val="300"/>
              </a:spcAft>
              <a:defRPr sz="1000" b="1">
                <a:solidFill>
                  <a:srgbClr val="647746"/>
                </a:solidFill>
                <a:latin typeface="Calibri"/>
              </a:defRPr>
            </a:pPr>
            <a:r>
              <a:t>/// THƯƠNG MẠI ĐIỆN TỬ</a:t>
            </a:r>
          </a:p>
          <a:p>
            <a:pPr>
              <a:defRPr sz="2200" b="1">
                <a:solidFill>
                  <a:srgbClr val="1C1C1C"/>
                </a:solidFill>
                <a:latin typeface="Trebuchet MS"/>
              </a:defRPr>
            </a:pPr>
            <a:r>
              <a:t>Quy Trình Mua Hàng &amp; Thanh Toán Đa Kênh Toàn Diện</a:t>
            </a:r>
          </a:p>
          <a:p>
            <a:pPr>
              <a:spcBef>
                <a:spcPts val="400"/>
              </a:spcBef>
              <a:defRPr sz="1100">
                <a:solidFill>
                  <a:srgbClr val="6E7369"/>
                </a:solidFill>
                <a:latin typeface="Calibri"/>
              </a:defRPr>
            </a:pPr>
            <a:r>
              <a:t>Tích hợp giỏ hàng thông minh, công cụ chiết khấu CouponEngine và cổng thanh toán mã QR động.</a:t>
            </a:r>
          </a:p>
        </p:txBody>
      </p:sp>
      <p:sp>
        <p:nvSpPr>
          <p:cNvPr id="4" name="TextBox 3"/>
          <p:cNvSpPr txBox="1"/>
          <p:nvPr/>
        </p:nvSpPr>
        <p:spPr>
          <a:xfrm>
            <a:off x="731520" y="6309360"/>
            <a:ext cx="10698480" cy="365760"/>
          </a:xfrm>
          <a:prstGeom prst="rect">
            <a:avLst/>
          </a:prstGeom>
          <a:noFill/>
        </p:spPr>
        <p:txBody>
          <a:bodyPr wrap="square" lIns="0" tIns="0" rIns="0" bIns="0">
            <a:spAutoFit/>
          </a:bodyPr>
          <a:lstStyle/>
          <a:p>
            <a:pPr>
              <a:defRPr sz="900">
                <a:solidFill>
                  <a:srgbClr val="A0A0A0"/>
                </a:solidFill>
                <a:latin typeface="Calibri"/>
              </a:defRPr>
            </a:pPr>
            <a:r>
              <a:t>NẾP FORM — BÁO CÁO KIẾN TRÚC HỆ THỐNG &amp; SẢN XUẤT THỜI TRANG THEO YÊU CẦU    |    SLIDE 09 / 16</a:t>
            </a:r>
          </a:p>
        </p:txBody>
      </p:sp>
      <p:sp>
        <p:nvSpPr>
          <p:cNvPr id="5" name="Rounded Rectangle 4"/>
          <p:cNvSpPr/>
          <p:nvPr/>
        </p:nvSpPr>
        <p:spPr>
          <a:xfrm>
            <a:off x="731520" y="1737360"/>
            <a:ext cx="2514600" cy="4297680"/>
          </a:xfrm>
          <a:prstGeom prst="roundRect">
            <a:avLst/>
          </a:prstGeom>
          <a:solidFill>
            <a:srgbClr val="FFFFFF"/>
          </a:solidFill>
          <a:ln w="12700">
            <a:solidFill>
              <a:srgbClr val="E4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2148840" cy="3931920"/>
          </a:xfrm>
          <a:prstGeom prst="rect">
            <a:avLst/>
          </a:prstGeom>
          <a:noFill/>
        </p:spPr>
        <p:txBody>
          <a:bodyPr wrap="square">
            <a:spAutoFit/>
          </a:bodyPr>
          <a:lstStyle/>
          <a:p>
            <a:pPr>
              <a:spcAft>
                <a:spcPts val="1000"/>
              </a:spcAft>
              <a:defRPr sz="1300" b="1">
                <a:solidFill>
                  <a:srgbClr val="2D3A2E"/>
                </a:solidFill>
                <a:latin typeface="Trebuchet MS"/>
              </a:defRPr>
            </a:pPr>
            <a:r>
              <a:t>1. Giỏ Hàng &amp; Tùy Biến</a:t>
            </a:r>
          </a:p>
          <a:p>
            <a:pPr>
              <a:spcAft>
                <a:spcPts val="1400"/>
              </a:spcAft>
              <a:defRPr sz="1050">
                <a:solidFill>
                  <a:srgbClr val="6E7369"/>
                </a:solidFill>
                <a:latin typeface="Calibri"/>
              </a:defRPr>
            </a:pPr>
            <a:r>
              <a:t>Lưu trữ sản phẩm kèm ID bản vẽ thiết kế (Design ID). Tự động cập nhật tổng tiền áo + phụ phí in ấn.</a:t>
            </a:r>
          </a:p>
          <a:p>
            <a:pPr>
              <a:defRPr sz="900" b="1">
                <a:solidFill>
                  <a:srgbClr val="C4A35A"/>
                </a:solidFill>
                <a:latin typeface="Calibri"/>
              </a:defRPr>
            </a:pPr>
            <a:r>
              <a:t>BƯỚC 1</a:t>
            </a:r>
          </a:p>
        </p:txBody>
      </p:sp>
      <p:sp>
        <p:nvSpPr>
          <p:cNvPr id="7" name="Rounded Rectangle 6"/>
          <p:cNvSpPr/>
          <p:nvPr/>
        </p:nvSpPr>
        <p:spPr>
          <a:xfrm>
            <a:off x="3456432" y="1737360"/>
            <a:ext cx="2514600" cy="4297680"/>
          </a:xfrm>
          <a:prstGeom prst="roundRect">
            <a:avLst/>
          </a:prstGeom>
          <a:solidFill>
            <a:srgbClr val="FFFFFF"/>
          </a:solidFill>
          <a:ln w="12700">
            <a:solidFill>
              <a:srgbClr val="E4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39312" y="1920240"/>
            <a:ext cx="2148840" cy="3931920"/>
          </a:xfrm>
          <a:prstGeom prst="rect">
            <a:avLst/>
          </a:prstGeom>
          <a:noFill/>
        </p:spPr>
        <p:txBody>
          <a:bodyPr wrap="square">
            <a:spAutoFit/>
          </a:bodyPr>
          <a:lstStyle/>
          <a:p>
            <a:pPr>
              <a:spcAft>
                <a:spcPts val="1000"/>
              </a:spcAft>
              <a:defRPr sz="1300" b="1">
                <a:solidFill>
                  <a:srgbClr val="2D3A2E"/>
                </a:solidFill>
                <a:latin typeface="Trebuchet MS"/>
              </a:defRPr>
            </a:pPr>
            <a:r>
              <a:t>2. Mã Giảm Giá Thông Minh</a:t>
            </a:r>
          </a:p>
          <a:p>
            <a:pPr>
              <a:spcAft>
                <a:spcPts val="1400"/>
              </a:spcAft>
              <a:defRPr sz="1050">
                <a:solidFill>
                  <a:srgbClr val="6E7369"/>
                </a:solidFill>
                <a:latin typeface="Calibri"/>
              </a:defRPr>
            </a:pPr>
            <a:r>
              <a:t>Áp dụng mã chiết khấu (NEPFORM20: -20%, NEP50K: -50.000₫). Kiểm tra điều kiện đơn tối thiểu và số lượt sử dụng.</a:t>
            </a:r>
          </a:p>
          <a:p>
            <a:pPr>
              <a:defRPr sz="900" b="1">
                <a:solidFill>
                  <a:srgbClr val="C4A35A"/>
                </a:solidFill>
                <a:latin typeface="Calibri"/>
              </a:defRPr>
            </a:pPr>
            <a:r>
              <a:t>BƯỚC 2</a:t>
            </a:r>
          </a:p>
        </p:txBody>
      </p:sp>
      <p:sp>
        <p:nvSpPr>
          <p:cNvPr id="9" name="Rounded Rectangle 8"/>
          <p:cNvSpPr/>
          <p:nvPr/>
        </p:nvSpPr>
        <p:spPr>
          <a:xfrm>
            <a:off x="6181344" y="1737360"/>
            <a:ext cx="2514600" cy="4297680"/>
          </a:xfrm>
          <a:prstGeom prst="roundRect">
            <a:avLst/>
          </a:prstGeom>
          <a:solidFill>
            <a:srgbClr val="FFFFFF"/>
          </a:solidFill>
          <a:ln w="12700">
            <a:solidFill>
              <a:srgbClr val="E4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64224" y="1920240"/>
            <a:ext cx="2148840" cy="3931920"/>
          </a:xfrm>
          <a:prstGeom prst="rect">
            <a:avLst/>
          </a:prstGeom>
          <a:noFill/>
        </p:spPr>
        <p:txBody>
          <a:bodyPr wrap="square">
            <a:spAutoFit/>
          </a:bodyPr>
          <a:lstStyle/>
          <a:p>
            <a:pPr>
              <a:spcAft>
                <a:spcPts val="1000"/>
              </a:spcAft>
              <a:defRPr sz="1300" b="1">
                <a:solidFill>
                  <a:srgbClr val="2D3A2E"/>
                </a:solidFill>
                <a:latin typeface="Trebuchet MS"/>
              </a:defRPr>
            </a:pPr>
            <a:r>
              <a:t>3. Sổ Địa Chỉ &amp; Giao Hàng</a:t>
            </a:r>
          </a:p>
          <a:p>
            <a:pPr>
              <a:spcAft>
                <a:spcPts val="1400"/>
              </a:spcAft>
              <a:defRPr sz="1050">
                <a:solidFill>
                  <a:srgbClr val="6E7369"/>
                </a:solidFill>
                <a:latin typeface="Calibri"/>
              </a:defRPr>
            </a:pPr>
            <a:r>
              <a:t>Tích hợp địa chỉ giao hàng nhiều cấp (Tỉnh/Thành, Quận/Huyện, Phường/Xã) và tính cước vận chuyển tự động.</a:t>
            </a:r>
          </a:p>
          <a:p>
            <a:pPr>
              <a:defRPr sz="900" b="1">
                <a:solidFill>
                  <a:srgbClr val="C4A35A"/>
                </a:solidFill>
                <a:latin typeface="Calibri"/>
              </a:defRPr>
            </a:pPr>
            <a:r>
              <a:t>BƯỚC 3</a:t>
            </a:r>
          </a:p>
        </p:txBody>
      </p:sp>
      <p:sp>
        <p:nvSpPr>
          <p:cNvPr id="11" name="Rounded Rectangle 10"/>
          <p:cNvSpPr/>
          <p:nvPr/>
        </p:nvSpPr>
        <p:spPr>
          <a:xfrm>
            <a:off x="8906256" y="1737360"/>
            <a:ext cx="2514600" cy="4297680"/>
          </a:xfrm>
          <a:prstGeom prst="roundRect">
            <a:avLst/>
          </a:prstGeom>
          <a:solidFill>
            <a:srgbClr val="FFFFFF"/>
          </a:solidFill>
          <a:ln w="12700">
            <a:solidFill>
              <a:srgbClr val="E4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89136" y="1920240"/>
            <a:ext cx="2148840" cy="3931920"/>
          </a:xfrm>
          <a:prstGeom prst="rect">
            <a:avLst/>
          </a:prstGeom>
          <a:noFill/>
        </p:spPr>
        <p:txBody>
          <a:bodyPr wrap="square">
            <a:spAutoFit/>
          </a:bodyPr>
          <a:lstStyle/>
          <a:p>
            <a:pPr>
              <a:spcAft>
                <a:spcPts val="1000"/>
              </a:spcAft>
              <a:defRPr sz="1300" b="1">
                <a:solidFill>
                  <a:srgbClr val="2D3A2E"/>
                </a:solidFill>
                <a:latin typeface="Trebuchet MS"/>
              </a:defRPr>
            </a:pPr>
            <a:r>
              <a:t>4. Cổng Thanh Toán Đa Kênh</a:t>
            </a:r>
          </a:p>
          <a:p>
            <a:pPr>
              <a:spcAft>
                <a:spcPts val="1400"/>
              </a:spcAft>
              <a:defRPr sz="1050">
                <a:solidFill>
                  <a:srgbClr val="6E7369"/>
                </a:solidFill>
                <a:latin typeface="Calibri"/>
              </a:defRPr>
            </a:pPr>
            <a:r>
              <a:t>Hỗ trợ 5 phương thức: COD, Chuyển khoản ngân hàng VietQR sinh mã động, Ví điện tử MoMo, VNPAY, ZaloPay.</a:t>
            </a:r>
          </a:p>
          <a:p>
            <a:pPr>
              <a:defRPr sz="900" b="1">
                <a:solidFill>
                  <a:srgbClr val="C4A35A"/>
                </a:solidFill>
                <a:latin typeface="Calibri"/>
              </a:defRPr>
            </a:pPr>
            <a:r>
              <a:t>BƯỚC 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698480" cy="1188720"/>
          </a:xfrm>
          <a:prstGeom prst="rect">
            <a:avLst/>
          </a:prstGeom>
          <a:noFill/>
        </p:spPr>
        <p:txBody>
          <a:bodyPr wrap="square" lIns="0" tIns="0" rIns="0" bIns="0">
            <a:spAutoFit/>
          </a:bodyPr>
          <a:lstStyle/>
          <a:p>
            <a:pPr>
              <a:spcAft>
                <a:spcPts val="300"/>
              </a:spcAft>
              <a:defRPr sz="1000" b="1">
                <a:solidFill>
                  <a:srgbClr val="647746"/>
                </a:solidFill>
                <a:latin typeface="Calibri"/>
              </a:defRPr>
            </a:pPr>
            <a:r>
              <a:t>/// CHĂM SÓC KHÁCH HÀNG</a:t>
            </a:r>
          </a:p>
          <a:p>
            <a:pPr>
              <a:defRPr sz="2200" b="1">
                <a:solidFill>
                  <a:srgbClr val="1C1C1C"/>
                </a:solidFill>
                <a:latin typeface="Trebuchet MS"/>
              </a:defRPr>
            </a:pPr>
            <a:r>
              <a:t>Nếp Club: Hệ Thống Tích Điểm, Phân Hạng &amp; Giới Thiệu</a:t>
            </a:r>
          </a:p>
          <a:p>
            <a:pPr>
              <a:spcBef>
                <a:spcPts val="400"/>
              </a:spcBef>
              <a:defRPr sz="1100">
                <a:solidFill>
                  <a:srgbClr val="6E7369"/>
                </a:solidFill>
                <a:latin typeface="Calibri"/>
              </a:defRPr>
            </a:pPr>
            <a:r>
              <a:t>Chiến lược giữ chân khách hàng (Retention) và lan tỏa viral qua chương trình thành viên 3 cấp bậc.</a:t>
            </a:r>
          </a:p>
        </p:txBody>
      </p:sp>
      <p:sp>
        <p:nvSpPr>
          <p:cNvPr id="4" name="TextBox 3"/>
          <p:cNvSpPr txBox="1"/>
          <p:nvPr/>
        </p:nvSpPr>
        <p:spPr>
          <a:xfrm>
            <a:off x="731520" y="6309360"/>
            <a:ext cx="10698480" cy="365760"/>
          </a:xfrm>
          <a:prstGeom prst="rect">
            <a:avLst/>
          </a:prstGeom>
          <a:noFill/>
        </p:spPr>
        <p:txBody>
          <a:bodyPr wrap="square" lIns="0" tIns="0" rIns="0" bIns="0">
            <a:spAutoFit/>
          </a:bodyPr>
          <a:lstStyle/>
          <a:p>
            <a:pPr>
              <a:defRPr sz="900">
                <a:solidFill>
                  <a:srgbClr val="A0A0A0"/>
                </a:solidFill>
                <a:latin typeface="Calibri"/>
              </a:defRPr>
            </a:pPr>
            <a:r>
              <a:t>NẾP FORM — BÁO CÁO KIẾN TRÚC HỆ THỐNG &amp; SẢN XUẤT THỜI TRANG THEO YÊU CẦU    |    SLIDE 10 / 16</a:t>
            </a:r>
          </a:p>
        </p:txBody>
      </p:sp>
      <p:sp>
        <p:nvSpPr>
          <p:cNvPr id="5" name="Rounded Rectangle 4"/>
          <p:cNvSpPr/>
          <p:nvPr/>
        </p:nvSpPr>
        <p:spPr>
          <a:xfrm>
            <a:off x="731520" y="1737360"/>
            <a:ext cx="3328416" cy="3291840"/>
          </a:xfrm>
          <a:prstGeom prst="roundRect">
            <a:avLst/>
          </a:prstGeom>
          <a:solidFill>
            <a:srgbClr val="FFFFFF"/>
          </a:solidFill>
          <a:ln w="12700">
            <a:solidFill>
              <a:srgbClr val="E4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20240"/>
            <a:ext cx="2871216" cy="2926080"/>
          </a:xfrm>
          <a:prstGeom prst="rect">
            <a:avLst/>
          </a:prstGeom>
          <a:noFill/>
        </p:spPr>
        <p:txBody>
          <a:bodyPr wrap="square">
            <a:spAutoFit/>
          </a:bodyPr>
          <a:lstStyle/>
          <a:p>
            <a:pPr>
              <a:defRPr sz="1400" b="1">
                <a:solidFill>
                  <a:srgbClr val="2D3A2E"/>
                </a:solidFill>
                <a:latin typeface="Trebuchet MS"/>
              </a:defRPr>
            </a:pPr>
            <a:r>
              <a:t>HẠNG THƯỜNG</a:t>
            </a:r>
          </a:p>
          <a:p>
            <a:pPr>
              <a:spcAft>
                <a:spcPts val="1000"/>
              </a:spcAft>
              <a:defRPr sz="1100" b="1">
                <a:solidFill>
                  <a:srgbClr val="1C1C1C"/>
                </a:solidFill>
                <a:latin typeface="Calibri"/>
              </a:defRPr>
            </a:pPr>
            <a:r>
              <a:t>0 - 499 Điểm</a:t>
            </a:r>
          </a:p>
          <a:p>
            <a:pPr>
              <a:spcAft>
                <a:spcPts val="500"/>
              </a:spcAft>
              <a:defRPr sz="950">
                <a:solidFill>
                  <a:srgbClr val="6E7369"/>
                </a:solidFill>
                <a:latin typeface="Calibri"/>
              </a:defRPr>
            </a:pPr>
            <a:r>
              <a:t>✓ Tích 1 điểm cho mỗi 1.000₫ thanh toán</a:t>
            </a:r>
          </a:p>
          <a:p>
            <a:pPr>
              <a:spcAft>
                <a:spcPts val="500"/>
              </a:spcAft>
              <a:defRPr sz="950">
                <a:solidFill>
                  <a:srgbClr val="6E7369"/>
                </a:solidFill>
                <a:latin typeface="Calibri"/>
              </a:defRPr>
            </a:pPr>
            <a:r>
              <a:t>✓ Ưu đãi sinh nhật thành viên: Voucher 10%</a:t>
            </a:r>
          </a:p>
          <a:p>
            <a:pPr>
              <a:spcAft>
                <a:spcPts val="500"/>
              </a:spcAft>
              <a:defRPr sz="950">
                <a:solidFill>
                  <a:srgbClr val="6E7369"/>
                </a:solidFill>
                <a:latin typeface="Calibri"/>
              </a:defRPr>
            </a:pPr>
            <a:r>
              <a:t>✓ Lưu trữ không giới hạn bản vẽ trong Studio</a:t>
            </a:r>
          </a:p>
        </p:txBody>
      </p:sp>
      <p:sp>
        <p:nvSpPr>
          <p:cNvPr id="7" name="Rounded Rectangle 6"/>
          <p:cNvSpPr/>
          <p:nvPr/>
        </p:nvSpPr>
        <p:spPr>
          <a:xfrm>
            <a:off x="4416552" y="1737360"/>
            <a:ext cx="3328416" cy="3291840"/>
          </a:xfrm>
          <a:prstGeom prst="roundRect">
            <a:avLst/>
          </a:prstGeom>
          <a:solidFill>
            <a:srgbClr val="FFFFFF"/>
          </a:solidFill>
          <a:ln w="12700">
            <a:solidFill>
              <a:srgbClr val="E4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45152" y="1920240"/>
            <a:ext cx="2871216" cy="2926080"/>
          </a:xfrm>
          <a:prstGeom prst="rect">
            <a:avLst/>
          </a:prstGeom>
          <a:noFill/>
        </p:spPr>
        <p:txBody>
          <a:bodyPr wrap="square">
            <a:spAutoFit/>
          </a:bodyPr>
          <a:lstStyle/>
          <a:p>
            <a:pPr>
              <a:defRPr sz="1400" b="1">
                <a:solidFill>
                  <a:srgbClr val="2D3A2E"/>
                </a:solidFill>
                <a:latin typeface="Trebuchet MS"/>
              </a:defRPr>
            </a:pPr>
            <a:r>
              <a:t>HẠNG BẠC (SILVER)</a:t>
            </a:r>
          </a:p>
          <a:p>
            <a:pPr>
              <a:spcAft>
                <a:spcPts val="1000"/>
              </a:spcAft>
              <a:defRPr sz="1100" b="1">
                <a:solidFill>
                  <a:srgbClr val="1C1C1C"/>
                </a:solidFill>
                <a:latin typeface="Calibri"/>
              </a:defRPr>
            </a:pPr>
            <a:r>
              <a:t>500 - 1.499 Điểm</a:t>
            </a:r>
          </a:p>
          <a:p>
            <a:pPr>
              <a:spcAft>
                <a:spcPts val="500"/>
              </a:spcAft>
              <a:defRPr sz="950">
                <a:solidFill>
                  <a:srgbClr val="6E7369"/>
                </a:solidFill>
                <a:latin typeface="Calibri"/>
              </a:defRPr>
            </a:pPr>
            <a:r>
              <a:t>✓ Chiết khấu giảm 5% trọn đời mọi đơn hàng</a:t>
            </a:r>
          </a:p>
          <a:p>
            <a:pPr>
              <a:spcAft>
                <a:spcPts val="500"/>
              </a:spcAft>
              <a:defRPr sz="950">
                <a:solidFill>
                  <a:srgbClr val="6E7369"/>
                </a:solidFill>
                <a:latin typeface="Calibri"/>
              </a:defRPr>
            </a:pPr>
            <a:r>
              <a:t>✓ Miễn phí vận chuyển cho đơn từ 400.000₫</a:t>
            </a:r>
          </a:p>
          <a:p>
            <a:pPr>
              <a:spcAft>
                <a:spcPts val="500"/>
              </a:spcAft>
              <a:defRPr sz="950">
                <a:solidFill>
                  <a:srgbClr val="6E7369"/>
                </a:solidFill>
                <a:latin typeface="Calibri"/>
              </a:defRPr>
            </a:pPr>
            <a:r>
              <a:t>✓ Đặc quyền truy cập kho sticker giới hạn</a:t>
            </a:r>
          </a:p>
        </p:txBody>
      </p:sp>
      <p:sp>
        <p:nvSpPr>
          <p:cNvPr id="9" name="Rounded Rectangle 8"/>
          <p:cNvSpPr/>
          <p:nvPr/>
        </p:nvSpPr>
        <p:spPr>
          <a:xfrm>
            <a:off x="8101584" y="1737360"/>
            <a:ext cx="3328416" cy="3291840"/>
          </a:xfrm>
          <a:prstGeom prst="roundRect">
            <a:avLst/>
          </a:prstGeom>
          <a:solidFill>
            <a:srgbClr val="222E24"/>
          </a:solidFill>
          <a:ln w="12700">
            <a:solidFill>
              <a:srgbClr val="C4A3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30184" y="1920240"/>
            <a:ext cx="2871216" cy="2926080"/>
          </a:xfrm>
          <a:prstGeom prst="rect">
            <a:avLst/>
          </a:prstGeom>
          <a:noFill/>
        </p:spPr>
        <p:txBody>
          <a:bodyPr wrap="square">
            <a:spAutoFit/>
          </a:bodyPr>
          <a:lstStyle/>
          <a:p>
            <a:pPr>
              <a:defRPr sz="1400" b="1">
                <a:solidFill>
                  <a:srgbClr val="C4A35A"/>
                </a:solidFill>
                <a:latin typeface="Trebuchet MS"/>
              </a:defRPr>
            </a:pPr>
            <a:r>
              <a:t>HẠNG VÀNG (GOLD)</a:t>
            </a:r>
          </a:p>
          <a:p>
            <a:pPr>
              <a:spcAft>
                <a:spcPts val="1000"/>
              </a:spcAft>
              <a:defRPr sz="1100" b="1">
                <a:solidFill>
                  <a:srgbClr val="FFFFFF"/>
                </a:solidFill>
                <a:latin typeface="Calibri"/>
              </a:defRPr>
            </a:pPr>
            <a:r>
              <a:t>1.500+ Điểm</a:t>
            </a:r>
          </a:p>
          <a:p>
            <a:pPr>
              <a:spcAft>
                <a:spcPts val="500"/>
              </a:spcAft>
              <a:defRPr sz="950">
                <a:solidFill>
                  <a:srgbClr val="D2D7CD"/>
                </a:solidFill>
                <a:latin typeface="Calibri"/>
              </a:defRPr>
            </a:pPr>
            <a:r>
              <a:t>✓ Chiết khấu giảm 10% trọn đời toàn bộ sản phẩm</a:t>
            </a:r>
          </a:p>
          <a:p>
            <a:pPr>
              <a:spcAft>
                <a:spcPts val="500"/>
              </a:spcAft>
              <a:defRPr sz="950">
                <a:solidFill>
                  <a:srgbClr val="D2D7CD"/>
                </a:solidFill>
                <a:latin typeface="Calibri"/>
              </a:defRPr>
            </a:pPr>
            <a:r>
              <a:t>✓ Miễn phí vận chuyển hỏa tốc toàn quốc</a:t>
            </a:r>
          </a:p>
          <a:p>
            <a:pPr>
              <a:spcAft>
                <a:spcPts val="500"/>
              </a:spcAft>
              <a:defRPr sz="950">
                <a:solidFill>
                  <a:srgbClr val="D2D7CD"/>
                </a:solidFill>
                <a:latin typeface="Calibri"/>
              </a:defRPr>
            </a:pPr>
            <a:r>
              <a:t>✓ Hỗ trợ xưởng may riêng &amp; ưu tiên in mẫu gấp</a:t>
            </a:r>
          </a:p>
        </p:txBody>
      </p:sp>
      <p:sp>
        <p:nvSpPr>
          <p:cNvPr id="11" name="Rounded Rectangle 10"/>
          <p:cNvSpPr/>
          <p:nvPr/>
        </p:nvSpPr>
        <p:spPr>
          <a:xfrm>
            <a:off x="731520" y="5212080"/>
            <a:ext cx="10698480" cy="868680"/>
          </a:xfrm>
          <a:prstGeom prst="roundRect">
            <a:avLst/>
          </a:prstGeom>
          <a:solidFill>
            <a:srgbClr val="EEEAE1"/>
          </a:solidFill>
          <a:ln w="12700">
            <a:solidFill>
              <a:srgbClr val="E4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303520"/>
            <a:ext cx="10149840" cy="685800"/>
          </a:xfrm>
          <a:prstGeom prst="rect">
            <a:avLst/>
          </a:prstGeom>
          <a:noFill/>
        </p:spPr>
        <p:txBody>
          <a:bodyPr wrap="none">
            <a:spAutoFit/>
          </a:bodyPr>
          <a:lstStyle/>
          <a:p>
            <a:pPr>
              <a:defRPr sz="1100" b="1">
                <a:solidFill>
                  <a:srgbClr val="2D3A2E"/>
                </a:solidFill>
                <a:latin typeface="Trebuchet MS"/>
              </a:defRPr>
            </a:pPr>
            <a:r>
              <a:t>CƠ CHẾ GIỚI THIỆU BẠN BÈ (REFERRAL PROGRAM)</a:t>
            </a:r>
          </a:p>
          <a:p>
            <a:pPr>
              <a:defRPr sz="950">
                <a:solidFill>
                  <a:srgbClr val="6E7369"/>
                </a:solidFill>
                <a:latin typeface="Calibri"/>
              </a:defRPr>
            </a:pPr>
            <a:r>
              <a:t>Mỗi thành viên có mã giới thiệu độc quyền. Bạn bè đăng ký qua mã nhận ngay 50 điểm thưởng, người giới thiệu nhận 100 điểm khi đơn hàng đầu tiên hoàn tất.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698480" cy="1188720"/>
          </a:xfrm>
          <a:prstGeom prst="rect">
            <a:avLst/>
          </a:prstGeom>
          <a:noFill/>
        </p:spPr>
        <p:txBody>
          <a:bodyPr wrap="square" lIns="0" tIns="0" rIns="0" bIns="0">
            <a:spAutoFit/>
          </a:bodyPr>
          <a:lstStyle/>
          <a:p>
            <a:pPr>
              <a:spcAft>
                <a:spcPts val="300"/>
              </a:spcAft>
              <a:defRPr sz="1000" b="1">
                <a:solidFill>
                  <a:srgbClr val="647746"/>
                </a:solidFill>
                <a:latin typeface="Calibri"/>
              </a:defRPr>
            </a:pPr>
            <a:r>
              <a:t>/// QUẢN TRỊ HỆ THỐNG</a:t>
            </a:r>
          </a:p>
          <a:p>
            <a:pPr>
              <a:defRPr sz="2200" b="1">
                <a:solidFill>
                  <a:srgbClr val="1C1C1C"/>
                </a:solidFill>
                <a:latin typeface="Trebuchet MS"/>
              </a:defRPr>
            </a:pPr>
            <a:r>
              <a:t>Bảng Điều Khiển Xưởng May &amp; Vận Hành Đơn Hàng (/quan-tri/)</a:t>
            </a:r>
          </a:p>
          <a:p>
            <a:pPr>
              <a:spcBef>
                <a:spcPts val="400"/>
              </a:spcBef>
              <a:defRPr sz="1100">
                <a:solidFill>
                  <a:srgbClr val="6E7369"/>
                </a:solidFill>
                <a:latin typeface="Calibri"/>
              </a:defRPr>
            </a:pPr>
            <a:r>
              <a:t>Trang quản trị được thiết kế riêng với Dark Sidebar hiện đại, theo dõi KPI và xuất file in DTG chuẩn xác.</a:t>
            </a:r>
          </a:p>
        </p:txBody>
      </p:sp>
      <p:sp>
        <p:nvSpPr>
          <p:cNvPr id="4" name="TextBox 3"/>
          <p:cNvSpPr txBox="1"/>
          <p:nvPr/>
        </p:nvSpPr>
        <p:spPr>
          <a:xfrm>
            <a:off x="731520" y="6309360"/>
            <a:ext cx="10698480" cy="365760"/>
          </a:xfrm>
          <a:prstGeom prst="rect">
            <a:avLst/>
          </a:prstGeom>
          <a:noFill/>
        </p:spPr>
        <p:txBody>
          <a:bodyPr wrap="square" lIns="0" tIns="0" rIns="0" bIns="0">
            <a:spAutoFit/>
          </a:bodyPr>
          <a:lstStyle/>
          <a:p>
            <a:pPr>
              <a:defRPr sz="900">
                <a:solidFill>
                  <a:srgbClr val="A0A0A0"/>
                </a:solidFill>
                <a:latin typeface="Calibri"/>
              </a:defRPr>
            </a:pPr>
            <a:r>
              <a:t>NẾP FORM — BÁO CÁO KIẾN TRÚC HỆ THỐNG &amp; SẢN XUẤT THỜI TRANG THEO YÊU CẦU    |    SLIDE 11 / 16</a:t>
            </a:r>
          </a:p>
        </p:txBody>
      </p:sp>
      <p:sp>
        <p:nvSpPr>
          <p:cNvPr id="5" name="Rounded Rectangle 4"/>
          <p:cNvSpPr/>
          <p:nvPr/>
        </p:nvSpPr>
        <p:spPr>
          <a:xfrm>
            <a:off x="731520" y="1737360"/>
            <a:ext cx="3328416" cy="1965960"/>
          </a:xfrm>
          <a:prstGeom prst="roundRect">
            <a:avLst/>
          </a:prstGeom>
          <a:solidFill>
            <a:srgbClr val="FFFFFF"/>
          </a:solidFill>
          <a:ln w="12700">
            <a:solidFill>
              <a:srgbClr val="E4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20240"/>
            <a:ext cx="2871216" cy="1600200"/>
          </a:xfrm>
          <a:prstGeom prst="rect">
            <a:avLst/>
          </a:prstGeom>
          <a:noFill/>
        </p:spPr>
        <p:txBody>
          <a:bodyPr wrap="square">
            <a:spAutoFit/>
          </a:bodyPr>
          <a:lstStyle/>
          <a:p>
            <a:pPr>
              <a:spcAft>
                <a:spcPts val="600"/>
              </a:spcAft>
              <a:defRPr sz="1300" b="1">
                <a:solidFill>
                  <a:srgbClr val="2D3A2E"/>
                </a:solidFill>
                <a:latin typeface="Trebuchet MS"/>
              </a:defRPr>
            </a:pPr>
            <a:r>
              <a:t>Tổng Quan KPI Doanh Thu</a:t>
            </a:r>
          </a:p>
          <a:p>
            <a:pPr>
              <a:defRPr sz="950">
                <a:solidFill>
                  <a:srgbClr val="6E7369"/>
                </a:solidFill>
                <a:latin typeface="Calibri"/>
              </a:defRPr>
            </a:pPr>
            <a:r>
              <a:t>Theo dõi doanh thu thực tế, biểu đồ đơn hàng (Chờ duyệt, Đang in, Đã giao), cảnh báo các biến thể áo có tồn kho thấp dưới 15 cái.</a:t>
            </a:r>
          </a:p>
        </p:txBody>
      </p:sp>
      <p:sp>
        <p:nvSpPr>
          <p:cNvPr id="7" name="Rounded Rectangle 6"/>
          <p:cNvSpPr/>
          <p:nvPr/>
        </p:nvSpPr>
        <p:spPr>
          <a:xfrm>
            <a:off x="4416552" y="1737360"/>
            <a:ext cx="3328416" cy="1965960"/>
          </a:xfrm>
          <a:prstGeom prst="roundRect">
            <a:avLst/>
          </a:prstGeom>
          <a:solidFill>
            <a:srgbClr val="FFFFFF"/>
          </a:solidFill>
          <a:ln w="12700">
            <a:solidFill>
              <a:srgbClr val="E4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45152" y="1920240"/>
            <a:ext cx="2871216" cy="1600200"/>
          </a:xfrm>
          <a:prstGeom prst="rect">
            <a:avLst/>
          </a:prstGeom>
          <a:noFill/>
        </p:spPr>
        <p:txBody>
          <a:bodyPr wrap="square">
            <a:spAutoFit/>
          </a:bodyPr>
          <a:lstStyle/>
          <a:p>
            <a:pPr>
              <a:spcAft>
                <a:spcPts val="600"/>
              </a:spcAft>
              <a:defRPr sz="1300" b="1">
                <a:solidFill>
                  <a:srgbClr val="2D3A2E"/>
                </a:solidFill>
                <a:latin typeface="Trebuchet MS"/>
              </a:defRPr>
            </a:pPr>
            <a:r>
              <a:t>Quản Lý &amp; Duyệt Đơn Hàng</a:t>
            </a:r>
          </a:p>
          <a:p>
            <a:pPr>
              <a:defRPr sz="950">
                <a:solidFill>
                  <a:srgbClr val="6E7369"/>
                </a:solidFill>
                <a:latin typeface="Calibri"/>
              </a:defRPr>
            </a:pPr>
            <a:r>
              <a:t>Chi tiết đơn hàng kèm ảnh mockup khách tự vẽ, danh sách khổ in, màu áo, cập nhật trạng thái thanh toán và in ấn.</a:t>
            </a:r>
          </a:p>
        </p:txBody>
      </p:sp>
      <p:sp>
        <p:nvSpPr>
          <p:cNvPr id="9" name="Rounded Rectangle 8"/>
          <p:cNvSpPr/>
          <p:nvPr/>
        </p:nvSpPr>
        <p:spPr>
          <a:xfrm>
            <a:off x="8101584" y="1737360"/>
            <a:ext cx="3328416" cy="1965960"/>
          </a:xfrm>
          <a:prstGeom prst="roundRect">
            <a:avLst/>
          </a:prstGeom>
          <a:solidFill>
            <a:srgbClr val="FFFFFF"/>
          </a:solidFill>
          <a:ln w="12700">
            <a:solidFill>
              <a:srgbClr val="E4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30184" y="1920240"/>
            <a:ext cx="2871216" cy="1600200"/>
          </a:xfrm>
          <a:prstGeom prst="rect">
            <a:avLst/>
          </a:prstGeom>
          <a:noFill/>
        </p:spPr>
        <p:txBody>
          <a:bodyPr wrap="square">
            <a:spAutoFit/>
          </a:bodyPr>
          <a:lstStyle/>
          <a:p>
            <a:pPr>
              <a:spcAft>
                <a:spcPts val="600"/>
              </a:spcAft>
              <a:defRPr sz="1300" b="1">
                <a:solidFill>
                  <a:srgbClr val="2D3A2E"/>
                </a:solidFill>
                <a:latin typeface="Trebuchet MS"/>
              </a:defRPr>
            </a:pPr>
            <a:r>
              <a:t>Quản Trị Sản Phẩm Toàn Diện</a:t>
            </a:r>
          </a:p>
          <a:p>
            <a:pPr>
              <a:defRPr sz="950">
                <a:solidFill>
                  <a:srgbClr val="6E7369"/>
                </a:solidFill>
                <a:latin typeface="Calibri"/>
              </a:defRPr>
            </a:pPr>
            <a:r>
              <a:t>Thêm mới, sửa giá, chất liệu, ảnh chụp thực tế và xóa sản phẩm với Live Preview 4:3 và bảo mật Modal.</a:t>
            </a:r>
          </a:p>
        </p:txBody>
      </p:sp>
      <p:sp>
        <p:nvSpPr>
          <p:cNvPr id="11" name="Rounded Rectangle 10"/>
          <p:cNvSpPr/>
          <p:nvPr/>
        </p:nvSpPr>
        <p:spPr>
          <a:xfrm>
            <a:off x="731520" y="3886200"/>
            <a:ext cx="3328416" cy="1965960"/>
          </a:xfrm>
          <a:prstGeom prst="roundRect">
            <a:avLst/>
          </a:prstGeom>
          <a:solidFill>
            <a:srgbClr val="FFFFFF"/>
          </a:solidFill>
          <a:ln w="12700">
            <a:solidFill>
              <a:srgbClr val="E4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069080"/>
            <a:ext cx="2871216" cy="1600200"/>
          </a:xfrm>
          <a:prstGeom prst="rect">
            <a:avLst/>
          </a:prstGeom>
          <a:noFill/>
        </p:spPr>
        <p:txBody>
          <a:bodyPr wrap="square">
            <a:spAutoFit/>
          </a:bodyPr>
          <a:lstStyle/>
          <a:p>
            <a:pPr>
              <a:spcAft>
                <a:spcPts val="600"/>
              </a:spcAft>
              <a:defRPr sz="1300" b="1">
                <a:solidFill>
                  <a:srgbClr val="2D3A2E"/>
                </a:solidFill>
                <a:latin typeface="Trebuchet MS"/>
              </a:defRPr>
            </a:pPr>
            <a:r>
              <a:t>Kho Mã Giảm Giá &amp; Templates</a:t>
            </a:r>
          </a:p>
          <a:p>
            <a:pPr>
              <a:defRPr sz="950">
                <a:solidFill>
                  <a:srgbClr val="6E7369"/>
                </a:solidFill>
                <a:latin typeface="Calibri"/>
              </a:defRPr>
            </a:pPr>
            <a:r>
              <a:t>Tạo và kiểm soát chiến dịch mã coupon, bổ sung mẫu thiết kế mới và bộ vector stickers vào Studio cho khách lựa chọn.</a:t>
            </a:r>
          </a:p>
        </p:txBody>
      </p:sp>
      <p:sp>
        <p:nvSpPr>
          <p:cNvPr id="13" name="Rounded Rectangle 12"/>
          <p:cNvSpPr/>
          <p:nvPr/>
        </p:nvSpPr>
        <p:spPr>
          <a:xfrm>
            <a:off x="4416552" y="3886200"/>
            <a:ext cx="3328416" cy="1965960"/>
          </a:xfrm>
          <a:prstGeom prst="roundRect">
            <a:avLst/>
          </a:prstGeom>
          <a:solidFill>
            <a:srgbClr val="FFFFFF"/>
          </a:solidFill>
          <a:ln w="12700">
            <a:solidFill>
              <a:srgbClr val="E4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45152" y="4069080"/>
            <a:ext cx="2871216" cy="1600200"/>
          </a:xfrm>
          <a:prstGeom prst="rect">
            <a:avLst/>
          </a:prstGeom>
          <a:noFill/>
        </p:spPr>
        <p:txBody>
          <a:bodyPr wrap="square">
            <a:spAutoFit/>
          </a:bodyPr>
          <a:lstStyle/>
          <a:p>
            <a:pPr>
              <a:spcAft>
                <a:spcPts val="600"/>
              </a:spcAft>
              <a:defRPr sz="1300" b="1">
                <a:solidFill>
                  <a:srgbClr val="2D3A2E"/>
                </a:solidFill>
                <a:latin typeface="Trebuchet MS"/>
              </a:defRPr>
            </a:pPr>
            <a:r>
              <a:t>Cài Đặt Cửa Hàng &amp; Banners</a:t>
            </a:r>
          </a:p>
          <a:p>
            <a:pPr>
              <a:defRPr sz="950">
                <a:solidFill>
                  <a:srgbClr val="6E7369"/>
                </a:solidFill>
                <a:latin typeface="Calibri"/>
              </a:defRPr>
            </a:pPr>
            <a:r>
              <a:t>Quản lý banners quảng cáo trang chủ, bảng câu hỏi FAQ thường gặp và hòm thư phản hồi của khách hàng.</a:t>
            </a:r>
          </a:p>
        </p:txBody>
      </p:sp>
      <p:sp>
        <p:nvSpPr>
          <p:cNvPr id="15" name="Rounded Rectangle 14"/>
          <p:cNvSpPr/>
          <p:nvPr/>
        </p:nvSpPr>
        <p:spPr>
          <a:xfrm>
            <a:off x="8101584" y="3886200"/>
            <a:ext cx="3328416" cy="1965960"/>
          </a:xfrm>
          <a:prstGeom prst="roundRect">
            <a:avLst/>
          </a:prstGeom>
          <a:solidFill>
            <a:srgbClr val="FFFFFF"/>
          </a:solidFill>
          <a:ln w="12700">
            <a:solidFill>
              <a:srgbClr val="E4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30184" y="4069080"/>
            <a:ext cx="2871216" cy="1600200"/>
          </a:xfrm>
          <a:prstGeom prst="rect">
            <a:avLst/>
          </a:prstGeom>
          <a:noFill/>
        </p:spPr>
        <p:txBody>
          <a:bodyPr wrap="square">
            <a:spAutoFit/>
          </a:bodyPr>
          <a:lstStyle/>
          <a:p>
            <a:pPr>
              <a:spcAft>
                <a:spcPts val="600"/>
              </a:spcAft>
              <a:defRPr sz="1300" b="1">
                <a:solidFill>
                  <a:srgbClr val="2D3A2E"/>
                </a:solidFill>
                <a:latin typeface="Trebuchet MS"/>
              </a:defRPr>
            </a:pPr>
            <a:r>
              <a:t>Phân Quyền Vai Trò &amp; Bảo Mật</a:t>
            </a:r>
          </a:p>
          <a:p>
            <a:pPr>
              <a:defRPr sz="950">
                <a:solidFill>
                  <a:srgbClr val="6E7369"/>
                </a:solidFill>
                <a:latin typeface="Calibri"/>
              </a:defRPr>
            </a:pPr>
            <a:r>
              <a:t>Chặn truy cập trái phép qua decorator @staff_required, bảo vệ bằng mã hóa phiên signed_cookies.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698480" cy="1188720"/>
          </a:xfrm>
          <a:prstGeom prst="rect">
            <a:avLst/>
          </a:prstGeom>
          <a:noFill/>
        </p:spPr>
        <p:txBody>
          <a:bodyPr wrap="square" lIns="0" tIns="0" rIns="0" bIns="0">
            <a:spAutoFit/>
          </a:bodyPr>
          <a:lstStyle/>
          <a:p>
            <a:pPr>
              <a:spcAft>
                <a:spcPts val="300"/>
              </a:spcAft>
              <a:defRPr sz="1000" b="1">
                <a:solidFill>
                  <a:srgbClr val="647746"/>
                </a:solidFill>
                <a:latin typeface="Calibri"/>
              </a:defRPr>
            </a:pPr>
            <a:r>
              <a:t>/// QUẢN TRỊ SẢN PHẨM</a:t>
            </a:r>
          </a:p>
          <a:p>
            <a:pPr>
              <a:defRPr sz="2200" b="1">
                <a:solidFill>
                  <a:srgbClr val="1C1C1C"/>
                </a:solidFill>
                <a:latin typeface="Trebuchet MS"/>
              </a:defRPr>
            </a:pPr>
            <a:r>
              <a:t>Đột Phá Trong Thao Tác Thêm, Sửa, Xóa &amp; Xem Trước Ảnh</a:t>
            </a:r>
          </a:p>
          <a:p>
            <a:pPr>
              <a:spcBef>
                <a:spcPts val="400"/>
              </a:spcBef>
              <a:defRPr sz="1100">
                <a:solidFill>
                  <a:srgbClr val="6E7369"/>
                </a:solidFill>
                <a:latin typeface="Calibri"/>
              </a:defRPr>
            </a:pPr>
            <a:r>
              <a:t>Giao diện 2 cột thông minh với khung Live Preview tỷ lệ vàng 4:3, Color Picker và Modal xóa an toàn.</a:t>
            </a:r>
          </a:p>
        </p:txBody>
      </p:sp>
      <p:sp>
        <p:nvSpPr>
          <p:cNvPr id="4" name="TextBox 3"/>
          <p:cNvSpPr txBox="1"/>
          <p:nvPr/>
        </p:nvSpPr>
        <p:spPr>
          <a:xfrm>
            <a:off x="731520" y="6309360"/>
            <a:ext cx="10698480" cy="365760"/>
          </a:xfrm>
          <a:prstGeom prst="rect">
            <a:avLst/>
          </a:prstGeom>
          <a:noFill/>
        </p:spPr>
        <p:txBody>
          <a:bodyPr wrap="square" lIns="0" tIns="0" rIns="0" bIns="0">
            <a:spAutoFit/>
          </a:bodyPr>
          <a:lstStyle/>
          <a:p>
            <a:pPr>
              <a:defRPr sz="900">
                <a:solidFill>
                  <a:srgbClr val="A0A0A0"/>
                </a:solidFill>
                <a:latin typeface="Calibri"/>
              </a:defRPr>
            </a:pPr>
            <a:r>
              <a:t>NẾP FORM — BÁO CÁO KIẾN TRÚC HỆ THỐNG &amp; SẢN XUẤT THỜI TRANG THEO YÊU CẦU    |    SLIDE 12 / 16</a:t>
            </a:r>
          </a:p>
        </p:txBody>
      </p:sp>
      <p:sp>
        <p:nvSpPr>
          <p:cNvPr id="5" name="Rounded Rectangle 4"/>
          <p:cNvSpPr/>
          <p:nvPr/>
        </p:nvSpPr>
        <p:spPr>
          <a:xfrm>
            <a:off x="731520" y="1737360"/>
            <a:ext cx="5166360" cy="4297680"/>
          </a:xfrm>
          <a:prstGeom prst="roundRect">
            <a:avLst/>
          </a:prstGeom>
          <a:solidFill>
            <a:srgbClr val="FFFFFF"/>
          </a:solidFill>
          <a:ln w="12700">
            <a:solidFill>
              <a:srgbClr val="E4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4617720" cy="3931920"/>
          </a:xfrm>
          <a:prstGeom prst="rect">
            <a:avLst/>
          </a:prstGeom>
          <a:noFill/>
        </p:spPr>
        <p:txBody>
          <a:bodyPr wrap="square">
            <a:spAutoFit/>
          </a:bodyPr>
          <a:lstStyle/>
          <a:p>
            <a:pPr>
              <a:spcAft>
                <a:spcPts val="800"/>
              </a:spcAft>
              <a:defRPr sz="1500" b="1">
                <a:solidFill>
                  <a:srgbClr val="1C1C1C"/>
                </a:solidFill>
                <a:latin typeface="Trebuchet MS"/>
              </a:defRPr>
            </a:pPr>
            <a:r>
              <a:t>Tính Năng Quản Trị Vừa Được Hoàn Thiện</a:t>
            </a:r>
          </a:p>
          <a:p>
            <a:pPr>
              <a:defRPr sz="950" b="1">
                <a:solidFill>
                  <a:srgbClr val="2D3A2E"/>
                </a:solidFill>
                <a:latin typeface="Calibri"/>
              </a:defRPr>
            </a:pPr>
            <a:r>
              <a:t>• Live Preview Ảnh Thời Gian Thực: </a:t>
            </a:r>
          </a:p>
          <a:p>
            <a:pPr>
              <a:spcAft>
                <a:spcPts val="300"/>
              </a:spcAft>
              <a:defRPr sz="900">
                <a:solidFill>
                  <a:srgbClr val="6E7369"/>
                </a:solidFill>
                <a:latin typeface="Calibri"/>
              </a:defRPr>
            </a:pPr>
            <a:r>
              <a:t>  Khi admin dán URL hoặc chọn file từ máy, khung xem trước 4:3 cập nhật ảnh ngay lập tức mà không cần tải lại trang.</a:t>
            </a:r>
          </a:p>
          <a:p>
            <a:pPr>
              <a:defRPr sz="950" b="1">
                <a:solidFill>
                  <a:srgbClr val="2D3A2E"/>
                </a:solidFill>
                <a:latin typeface="Calibri"/>
              </a:defRPr>
            </a:pPr>
            <a:r>
              <a:t>• Hỗ Trợ Đa Định Dạng Nguồn Ảnh: </a:t>
            </a:r>
          </a:p>
          <a:p>
            <a:pPr>
              <a:spcAft>
                <a:spcPts val="300"/>
              </a:spcAft>
              <a:defRPr sz="900">
                <a:solidFill>
                  <a:srgbClr val="6E7369"/>
                </a:solidFill>
                <a:latin typeface="Calibri"/>
              </a:defRPr>
            </a:pPr>
            <a:r>
              <a:t>  Chấp nhận cả 2 cách: tải file ảnh máy tính (JPG/PNG/WebP) HOẶC nhập link ảnh online trực tiếp.</a:t>
            </a:r>
          </a:p>
          <a:p>
            <a:pPr>
              <a:defRPr sz="950" b="1">
                <a:solidFill>
                  <a:srgbClr val="2D3A2E"/>
                </a:solidFill>
                <a:latin typeface="Calibri"/>
              </a:defRPr>
            </a:pPr>
            <a:r>
              <a:t>• Tự Động Sinh Biến Thể Size &amp; Tồn Kho: </a:t>
            </a:r>
          </a:p>
          <a:p>
            <a:pPr>
              <a:spcAft>
                <a:spcPts val="300"/>
              </a:spcAft>
              <a:defRPr sz="900">
                <a:solidFill>
                  <a:srgbClr val="6E7369"/>
                </a:solidFill>
                <a:latin typeface="Calibri"/>
              </a:defRPr>
            </a:pPr>
            <a:r>
              <a:t>  Khi tạo sản phẩm mới, hệ thống tự động sinh 5 kích cỡ (S, M, L, XL, 2XL) kèm tồn kho 30 cái để bán được ngay.</a:t>
            </a:r>
          </a:p>
          <a:p>
            <a:pPr>
              <a:defRPr sz="950" b="1">
                <a:solidFill>
                  <a:srgbClr val="2D3A2E"/>
                </a:solidFill>
                <a:latin typeface="Calibri"/>
              </a:defRPr>
            </a:pPr>
            <a:r>
              <a:t>• Huy Hiệu &amp; Chấm Màu Nhận Diện: </a:t>
            </a:r>
          </a:p>
          <a:p>
            <a:pPr>
              <a:spcAft>
                <a:spcPts val="300"/>
              </a:spcAft>
              <a:defRPr sz="900">
                <a:solidFill>
                  <a:srgbClr val="6E7369"/>
                </a:solidFill>
                <a:latin typeface="Calibri"/>
              </a:defRPr>
            </a:pPr>
            <a:r>
              <a:t>  Tùy biến nhanh huy hiệu (Best-seller, Mới, Hot) và bảng chọn màu Color Picker tương tác 2 chiều.</a:t>
            </a:r>
          </a:p>
          <a:p>
            <a:pPr>
              <a:defRPr sz="950" b="1">
                <a:solidFill>
                  <a:srgbClr val="2D3A2E"/>
                </a:solidFill>
                <a:latin typeface="Calibri"/>
              </a:defRPr>
            </a:pPr>
            <a:r>
              <a:t>• Xác Nhận Xóa Bằng Modal Popup: </a:t>
            </a:r>
          </a:p>
          <a:p>
            <a:pPr>
              <a:spcAft>
                <a:spcPts val="300"/>
              </a:spcAft>
              <a:defRPr sz="900">
                <a:solidFill>
                  <a:srgbClr val="6E7369"/>
                </a:solidFill>
                <a:latin typeface="Calibri"/>
              </a:defRPr>
            </a:pPr>
            <a:r>
              <a:t>  Ngăn chặn hoàn toàn thao tác xóa nhầm sản phẩm nhờ hộp thoại Alpine.js xác nhận an toàn.</a:t>
            </a:r>
          </a:p>
        </p:txBody>
      </p:sp>
      <p:sp>
        <p:nvSpPr>
          <p:cNvPr id="7" name="Rounded Rectangle 6"/>
          <p:cNvSpPr/>
          <p:nvPr/>
        </p:nvSpPr>
        <p:spPr>
          <a:xfrm>
            <a:off x="6263640" y="1737360"/>
            <a:ext cx="5166360" cy="4297680"/>
          </a:xfrm>
          <a:prstGeom prst="roundRect">
            <a:avLst/>
          </a:prstGeom>
          <a:solidFill>
            <a:srgbClr val="FFFFFF"/>
          </a:solidFill>
          <a:ln w="12700">
            <a:solidFill>
              <a:srgbClr val="E4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o-thun-heavyweight-trang.jpg"/>
          <p:cNvPicPr>
            <a:picLocks noChangeAspect="1"/>
          </p:cNvPicPr>
          <p:nvPr/>
        </p:nvPicPr>
        <p:blipFill>
          <a:blip r:embed="rId2"/>
          <a:stretch>
            <a:fillRect/>
          </a:stretch>
        </p:blipFill>
        <p:spPr>
          <a:xfrm>
            <a:off x="6858000" y="2011680"/>
            <a:ext cx="3977639" cy="2983229"/>
          </a:xfrm>
          <a:prstGeom prst="rect">
            <a:avLst/>
          </a:prstGeom>
        </p:spPr>
      </p:pic>
      <p:sp>
        <p:nvSpPr>
          <p:cNvPr id="9" name="TextBox 8"/>
          <p:cNvSpPr txBox="1"/>
          <p:nvPr/>
        </p:nvSpPr>
        <p:spPr>
          <a:xfrm>
            <a:off x="6492240" y="5303520"/>
            <a:ext cx="4709160" cy="548640"/>
          </a:xfrm>
          <a:prstGeom prst="rect">
            <a:avLst/>
          </a:prstGeom>
          <a:noFill/>
        </p:spPr>
        <p:txBody>
          <a:bodyPr wrap="none">
            <a:spAutoFit/>
          </a:bodyPr>
          <a:lstStyle/>
          <a:p>
            <a:pPr algn="ctr">
              <a:defRPr sz="950">
                <a:solidFill>
                  <a:srgbClr val="6E7369"/>
                </a:solidFill>
                <a:latin typeface="Calibri"/>
              </a:defRPr>
            </a:pPr>
            <a:r>
              <a:t>Ảnh sản phẩm tỷ lệ 4:3 thực tế sắc nét: Áo thun Heavyweight 100% Cotton (219.000₫)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698480" cy="1188720"/>
          </a:xfrm>
          <a:prstGeom prst="rect">
            <a:avLst/>
          </a:prstGeom>
          <a:noFill/>
        </p:spPr>
        <p:txBody>
          <a:bodyPr wrap="square" lIns="0" tIns="0" rIns="0" bIns="0">
            <a:spAutoFit/>
          </a:bodyPr>
          <a:lstStyle/>
          <a:p>
            <a:pPr>
              <a:spcAft>
                <a:spcPts val="300"/>
              </a:spcAft>
              <a:defRPr sz="1000" b="1">
                <a:solidFill>
                  <a:srgbClr val="647746"/>
                </a:solidFill>
                <a:latin typeface="Calibri"/>
              </a:defRPr>
            </a:pPr>
            <a:r>
              <a:t>/// GIẢI PHÁP ĐÁM MÂY</a:t>
            </a:r>
          </a:p>
          <a:p>
            <a:pPr>
              <a:defRPr sz="2200" b="1">
                <a:solidFill>
                  <a:srgbClr val="1C1C1C"/>
                </a:solidFill>
                <a:latin typeface="Trebuchet MS"/>
              </a:defRPr>
            </a:pPr>
            <a:r>
              <a:t>Kiến Trúc Serverless &amp; Khắc Phục Read-Only Filesystem</a:t>
            </a:r>
          </a:p>
          <a:p>
            <a:pPr>
              <a:spcBef>
                <a:spcPts val="400"/>
              </a:spcBef>
              <a:defRPr sz="1100">
                <a:solidFill>
                  <a:srgbClr val="6E7369"/>
                </a:solidFill>
                <a:latin typeface="Calibri"/>
              </a:defRPr>
            </a:pPr>
            <a:r>
              <a:t>Bài toán vận hành Django trên nền tảng AWS Lambda / Vercel Serverless và các sáng kiến kỹ thuật then chốt.</a:t>
            </a:r>
          </a:p>
        </p:txBody>
      </p:sp>
      <p:sp>
        <p:nvSpPr>
          <p:cNvPr id="4" name="TextBox 3"/>
          <p:cNvSpPr txBox="1"/>
          <p:nvPr/>
        </p:nvSpPr>
        <p:spPr>
          <a:xfrm>
            <a:off x="731520" y="6309360"/>
            <a:ext cx="10698480" cy="365760"/>
          </a:xfrm>
          <a:prstGeom prst="rect">
            <a:avLst/>
          </a:prstGeom>
          <a:noFill/>
        </p:spPr>
        <p:txBody>
          <a:bodyPr wrap="square" lIns="0" tIns="0" rIns="0" bIns="0">
            <a:spAutoFit/>
          </a:bodyPr>
          <a:lstStyle/>
          <a:p>
            <a:pPr>
              <a:defRPr sz="900">
                <a:solidFill>
                  <a:srgbClr val="A0A0A0"/>
                </a:solidFill>
                <a:latin typeface="Calibri"/>
              </a:defRPr>
            </a:pPr>
            <a:r>
              <a:t>NẾP FORM — BÁO CÁO KIẾN TRÚC HỆ THỐNG &amp; SẢN XUẤT THỜI TRANG THEO YÊU CẦU    |    SLIDE 13 / 16</a:t>
            </a:r>
          </a:p>
        </p:txBody>
      </p:sp>
      <p:sp>
        <p:nvSpPr>
          <p:cNvPr id="5" name="Rounded Rectangle 4"/>
          <p:cNvSpPr/>
          <p:nvPr/>
        </p:nvSpPr>
        <p:spPr>
          <a:xfrm>
            <a:off x="731520" y="1737360"/>
            <a:ext cx="3328416" cy="4297680"/>
          </a:xfrm>
          <a:prstGeom prst="roundRect">
            <a:avLst/>
          </a:prstGeom>
          <a:solidFill>
            <a:srgbClr val="FFFFFF"/>
          </a:solidFill>
          <a:ln w="12700">
            <a:solidFill>
              <a:srgbClr val="E4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20240"/>
            <a:ext cx="2871216" cy="3931920"/>
          </a:xfrm>
          <a:prstGeom prst="rect">
            <a:avLst/>
          </a:prstGeom>
          <a:noFill/>
        </p:spPr>
        <p:txBody>
          <a:bodyPr wrap="square">
            <a:spAutoFit/>
          </a:bodyPr>
          <a:lstStyle/>
          <a:p>
            <a:pPr>
              <a:defRPr sz="1300" b="1">
                <a:solidFill>
                  <a:srgbClr val="1C1C1C"/>
                </a:solidFill>
                <a:latin typeface="Trebuchet MS"/>
              </a:defRPr>
            </a:pPr>
            <a:r>
              <a:t>Thách Thức Read-Only Filesystem</a:t>
            </a:r>
          </a:p>
          <a:p>
            <a:pPr>
              <a:spcAft>
                <a:spcPts val="1000"/>
              </a:spcAft>
              <a:defRPr sz="900" b="1">
                <a:solidFill>
                  <a:srgbClr val="C4A35A"/>
                </a:solidFill>
                <a:latin typeface="Calibri"/>
              </a:defRPr>
            </a:pPr>
            <a:r>
              <a:t>VERCEL / LAMBDA CONSTRAINT</a:t>
            </a:r>
          </a:p>
          <a:p>
            <a:pPr>
              <a:defRPr sz="1000" b="1">
                <a:solidFill>
                  <a:srgbClr val="BE3232"/>
                </a:solidFill>
                <a:latin typeface="Calibri"/>
              </a:defRPr>
            </a:pPr>
            <a:r>
              <a:t>Vấn đề thực tế:</a:t>
            </a:r>
          </a:p>
          <a:p>
            <a:pPr>
              <a:spcAft>
                <a:spcPts val="1000"/>
              </a:spcAft>
              <a:defRPr sz="900">
                <a:solidFill>
                  <a:srgbClr val="6E7369"/>
                </a:solidFill>
                <a:latin typeface="Calibri"/>
              </a:defRPr>
            </a:pPr>
            <a:r>
              <a:t>Trên Vercel, toàn bộ thư mục mã nguồn /var/task là Read-only. Khi admin tải ảnh lên, Django mặc định cố ghi vào ổ cứng gây lỗi OSError Errno 30.</a:t>
            </a:r>
          </a:p>
          <a:p>
            <a:pPr>
              <a:defRPr sz="1000" b="1">
                <a:solidFill>
                  <a:srgbClr val="2D3A2E"/>
                </a:solidFill>
                <a:latin typeface="Calibri"/>
              </a:defRPr>
            </a:pPr>
            <a:r>
              <a:t>Sáng kiến giải quyết:</a:t>
            </a:r>
          </a:p>
          <a:p>
            <a:pPr>
              <a:defRPr sz="900">
                <a:solidFill>
                  <a:srgbClr val="6E7369"/>
                </a:solidFill>
                <a:latin typeface="Calibri"/>
              </a:defRPr>
            </a:pPr>
            <a:r>
              <a:t>Giải pháp: Viết hàm process_uploaded_image sử dụng Pillow nén và mã hóa ảnh trực tiếp thành Base64 Data URL, lưu thẳng vào trường TextField của Database. Không ghi ổ cứng.</a:t>
            </a:r>
          </a:p>
        </p:txBody>
      </p:sp>
      <p:sp>
        <p:nvSpPr>
          <p:cNvPr id="7" name="Rounded Rectangle 6"/>
          <p:cNvSpPr/>
          <p:nvPr/>
        </p:nvSpPr>
        <p:spPr>
          <a:xfrm>
            <a:off x="4416552" y="1737360"/>
            <a:ext cx="3328416" cy="4297680"/>
          </a:xfrm>
          <a:prstGeom prst="roundRect">
            <a:avLst/>
          </a:prstGeom>
          <a:solidFill>
            <a:srgbClr val="FFFFFF"/>
          </a:solidFill>
          <a:ln w="12700">
            <a:solidFill>
              <a:srgbClr val="E4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45152" y="1920240"/>
            <a:ext cx="2871216" cy="3931920"/>
          </a:xfrm>
          <a:prstGeom prst="rect">
            <a:avLst/>
          </a:prstGeom>
          <a:noFill/>
        </p:spPr>
        <p:txBody>
          <a:bodyPr wrap="square">
            <a:spAutoFit/>
          </a:bodyPr>
          <a:lstStyle/>
          <a:p>
            <a:pPr>
              <a:defRPr sz="1300" b="1">
                <a:solidFill>
                  <a:srgbClr val="1C1C1C"/>
                </a:solidFill>
                <a:latin typeface="Trebuchet MS"/>
              </a:defRPr>
            </a:pPr>
            <a:r>
              <a:t>Thách Thức Mất Phiên Đăng Nhập</a:t>
            </a:r>
          </a:p>
          <a:p>
            <a:pPr>
              <a:spcAft>
                <a:spcPts val="1000"/>
              </a:spcAft>
              <a:defRPr sz="900" b="1">
                <a:solidFill>
                  <a:srgbClr val="C4A35A"/>
                </a:solidFill>
                <a:latin typeface="Calibri"/>
              </a:defRPr>
            </a:pPr>
            <a:r>
              <a:t>STATELESS SESSION BUG</a:t>
            </a:r>
          </a:p>
          <a:p>
            <a:pPr>
              <a:defRPr sz="1000" b="1">
                <a:solidFill>
                  <a:srgbClr val="BE3232"/>
                </a:solidFill>
                <a:latin typeface="Calibri"/>
              </a:defRPr>
            </a:pPr>
            <a:r>
              <a:t>Vấn đề thực tế:</a:t>
            </a:r>
          </a:p>
          <a:p>
            <a:pPr>
              <a:spcAft>
                <a:spcPts val="1000"/>
              </a:spcAft>
              <a:defRPr sz="900">
                <a:solidFill>
                  <a:srgbClr val="6E7369"/>
                </a:solidFill>
                <a:latin typeface="Calibri"/>
              </a:defRPr>
            </a:pPr>
            <a:r>
              <a:t>Mỗi request đến Vercel có thể được phục vụ bởi một container Lambda khác nhau. Session lưu trong file SQLite bị phân mảnh gây vòng lặp đăng nhập liên tục.</a:t>
            </a:r>
          </a:p>
          <a:p>
            <a:pPr>
              <a:defRPr sz="1000" b="1">
                <a:solidFill>
                  <a:srgbClr val="2D3A2E"/>
                </a:solidFill>
                <a:latin typeface="Calibri"/>
              </a:defRPr>
            </a:pPr>
            <a:r>
              <a:t>Sáng kiến giải quyết:</a:t>
            </a:r>
          </a:p>
          <a:p>
            <a:pPr>
              <a:defRPr sz="900">
                <a:solidFill>
                  <a:srgbClr val="6E7369"/>
                </a:solidFill>
                <a:latin typeface="Calibri"/>
              </a:defRPr>
            </a:pPr>
            <a:r>
              <a:t>Giải pháp: Chuyển toàn bộ SessionEngine sang signed_cookies. Phiên đăng nhập được ký mật mã bí mật và lưu ở cookie client, đảm bảo duy trì đăng nhập vĩnh viễn trên mọi container.</a:t>
            </a:r>
          </a:p>
        </p:txBody>
      </p:sp>
      <p:sp>
        <p:nvSpPr>
          <p:cNvPr id="9" name="Rounded Rectangle 8"/>
          <p:cNvSpPr/>
          <p:nvPr/>
        </p:nvSpPr>
        <p:spPr>
          <a:xfrm>
            <a:off x="8101584" y="1737360"/>
            <a:ext cx="3328416" cy="4297680"/>
          </a:xfrm>
          <a:prstGeom prst="roundRect">
            <a:avLst/>
          </a:prstGeom>
          <a:solidFill>
            <a:srgbClr val="FFFFFF"/>
          </a:solidFill>
          <a:ln w="12700">
            <a:solidFill>
              <a:srgbClr val="E4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30184" y="1920240"/>
            <a:ext cx="2871216" cy="3931920"/>
          </a:xfrm>
          <a:prstGeom prst="rect">
            <a:avLst/>
          </a:prstGeom>
          <a:noFill/>
        </p:spPr>
        <p:txBody>
          <a:bodyPr wrap="square">
            <a:spAutoFit/>
          </a:bodyPr>
          <a:lstStyle/>
          <a:p>
            <a:pPr>
              <a:defRPr sz="1300" b="1">
                <a:solidFill>
                  <a:srgbClr val="1C1C1C"/>
                </a:solidFill>
                <a:latin typeface="Trebuchet MS"/>
              </a:defRPr>
            </a:pPr>
            <a:r>
              <a:t>Tối Ưu Tài Nguyên Tĩnh WhiteNoise</a:t>
            </a:r>
          </a:p>
          <a:p>
            <a:pPr>
              <a:spcAft>
                <a:spcPts val="1000"/>
              </a:spcAft>
              <a:defRPr sz="900" b="1">
                <a:solidFill>
                  <a:srgbClr val="C4A35A"/>
                </a:solidFill>
                <a:latin typeface="Calibri"/>
              </a:defRPr>
            </a:pPr>
            <a:r>
              <a:t>STATIC ASSET CDN</a:t>
            </a:r>
          </a:p>
          <a:p>
            <a:pPr>
              <a:defRPr sz="1000" b="1">
                <a:solidFill>
                  <a:srgbClr val="BE3232"/>
                </a:solidFill>
                <a:latin typeface="Calibri"/>
              </a:defRPr>
            </a:pPr>
            <a:r>
              <a:t>Vấn đề thực tế:</a:t>
            </a:r>
          </a:p>
          <a:p>
            <a:pPr>
              <a:spcAft>
                <a:spcPts val="1000"/>
              </a:spcAft>
              <a:defRPr sz="900">
                <a:solidFill>
                  <a:srgbClr val="6E7369"/>
                </a:solidFill>
                <a:latin typeface="Calibri"/>
              </a:defRPr>
            </a:pPr>
            <a:r>
              <a:t>Tài nguyên ảnh, CSS, JS cần được phục vụ với độ trễ thấp và băng thông tối thiểu mà không cần duy trì web server Nginx riêng biệt.</a:t>
            </a:r>
          </a:p>
          <a:p>
            <a:pPr>
              <a:defRPr sz="1000" b="1">
                <a:solidFill>
                  <a:srgbClr val="2D3A2E"/>
                </a:solidFill>
                <a:latin typeface="Calibri"/>
              </a:defRPr>
            </a:pPr>
            <a:r>
              <a:t>Sáng kiến giải quyết:</a:t>
            </a:r>
          </a:p>
          <a:p>
            <a:pPr>
              <a:defRPr sz="900">
                <a:solidFill>
                  <a:srgbClr val="6E7369"/>
                </a:solidFill>
                <a:latin typeface="Calibri"/>
              </a:defRPr>
            </a:pPr>
            <a:r>
              <a:t>Giải pháp: Sử dụng WhiteNoise CompressedStaticFilesStorage tự động gzip/brotli toàn bộ tài nguyên tĩnh, tích hợp cache-control bất biến.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698480" cy="1188720"/>
          </a:xfrm>
          <a:prstGeom prst="rect">
            <a:avLst/>
          </a:prstGeom>
          <a:noFill/>
        </p:spPr>
        <p:txBody>
          <a:bodyPr wrap="square" lIns="0" tIns="0" rIns="0" bIns="0">
            <a:spAutoFit/>
          </a:bodyPr>
          <a:lstStyle/>
          <a:p>
            <a:pPr>
              <a:spcAft>
                <a:spcPts val="300"/>
              </a:spcAft>
              <a:defRPr sz="1000" b="1">
                <a:solidFill>
                  <a:srgbClr val="647746"/>
                </a:solidFill>
                <a:latin typeface="Calibri"/>
              </a:defRPr>
            </a:pPr>
            <a:r>
              <a:t>/// CHẤT LƯỢNG KỸ THUẬT</a:t>
            </a:r>
          </a:p>
          <a:p>
            <a:pPr>
              <a:defRPr sz="2200" b="1">
                <a:solidFill>
                  <a:srgbClr val="1C1C1C"/>
                </a:solidFill>
                <a:latin typeface="Trebuchet MS"/>
              </a:defRPr>
            </a:pPr>
            <a:r>
              <a:t>Hệ Thống Bảo Mật &amp; Bộ Kiểm Thử Tự Động (Testing Suite)</a:t>
            </a:r>
          </a:p>
          <a:p>
            <a:pPr>
              <a:spcBef>
                <a:spcPts val="400"/>
              </a:spcBef>
              <a:defRPr sz="1100">
                <a:solidFill>
                  <a:srgbClr val="6E7369"/>
                </a:solidFill>
                <a:latin typeface="Calibri"/>
              </a:defRPr>
            </a:pPr>
            <a:r>
              <a:t>Tuân thủ nghiêm ngặt chuẩn bảo mật Django, 100% ca kiểm thử Smoke &amp; Integration Tests vượt qua thành công.</a:t>
            </a:r>
          </a:p>
        </p:txBody>
      </p:sp>
      <p:sp>
        <p:nvSpPr>
          <p:cNvPr id="4" name="TextBox 3"/>
          <p:cNvSpPr txBox="1"/>
          <p:nvPr/>
        </p:nvSpPr>
        <p:spPr>
          <a:xfrm>
            <a:off x="731520" y="6309360"/>
            <a:ext cx="10698480" cy="365760"/>
          </a:xfrm>
          <a:prstGeom prst="rect">
            <a:avLst/>
          </a:prstGeom>
          <a:noFill/>
        </p:spPr>
        <p:txBody>
          <a:bodyPr wrap="square" lIns="0" tIns="0" rIns="0" bIns="0">
            <a:spAutoFit/>
          </a:bodyPr>
          <a:lstStyle/>
          <a:p>
            <a:pPr>
              <a:defRPr sz="900">
                <a:solidFill>
                  <a:srgbClr val="A0A0A0"/>
                </a:solidFill>
                <a:latin typeface="Calibri"/>
              </a:defRPr>
            </a:pPr>
            <a:r>
              <a:t>NẾP FORM — BÁO CÁO KIẾN TRÚC HỆ THỐNG &amp; SẢN XUẤT THỜI TRANG THEO YÊU CẦU    |    SLIDE 14 / 16</a:t>
            </a:r>
          </a:p>
        </p:txBody>
      </p:sp>
      <p:sp>
        <p:nvSpPr>
          <p:cNvPr id="5" name="Rounded Rectangle 4"/>
          <p:cNvSpPr/>
          <p:nvPr/>
        </p:nvSpPr>
        <p:spPr>
          <a:xfrm>
            <a:off x="731520" y="1737360"/>
            <a:ext cx="5166360" cy="4297680"/>
          </a:xfrm>
          <a:prstGeom prst="roundRect">
            <a:avLst/>
          </a:prstGeom>
          <a:solidFill>
            <a:srgbClr val="FFFFFF"/>
          </a:solidFill>
          <a:ln w="12700">
            <a:solidFill>
              <a:srgbClr val="E4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4617720" cy="3931920"/>
          </a:xfrm>
          <a:prstGeom prst="rect">
            <a:avLst/>
          </a:prstGeom>
          <a:noFill/>
        </p:spPr>
        <p:txBody>
          <a:bodyPr wrap="square">
            <a:spAutoFit/>
          </a:bodyPr>
          <a:lstStyle/>
          <a:p>
            <a:pPr>
              <a:spcAft>
                <a:spcPts val="1000"/>
              </a:spcAft>
              <a:defRPr sz="1500" b="1">
                <a:solidFill>
                  <a:srgbClr val="1C1C1C"/>
                </a:solidFill>
                <a:latin typeface="Trebuchet MS"/>
              </a:defRPr>
            </a:pPr>
            <a:r>
              <a:t>Các Lớp Phòng Thủ Bảo Mật</a:t>
            </a:r>
          </a:p>
          <a:p>
            <a:pPr>
              <a:defRPr sz="1000" b="1">
                <a:solidFill>
                  <a:srgbClr val="2D3A2E"/>
                </a:solidFill>
                <a:latin typeface="Calibri"/>
              </a:defRPr>
            </a:pPr>
            <a:r>
              <a:t>• CSRF Protection: </a:t>
            </a:r>
          </a:p>
          <a:p>
            <a:pPr>
              <a:spcAft>
                <a:spcPts val="400"/>
              </a:spcAft>
              <a:defRPr sz="950">
                <a:solidFill>
                  <a:srgbClr val="6E7369"/>
                </a:solidFill>
                <a:latin typeface="Calibri"/>
              </a:defRPr>
            </a:pPr>
            <a:r>
              <a:t>  Tất cả biểu mẫu POST trong Studio, Giỏ hàng và Admin đều được bảo vệ bằng CSRF token chống giả mạo request.</a:t>
            </a:r>
          </a:p>
          <a:p>
            <a:pPr>
              <a:defRPr sz="1000" b="1">
                <a:solidFill>
                  <a:srgbClr val="2D3A2E"/>
                </a:solidFill>
                <a:latin typeface="Calibri"/>
              </a:defRPr>
            </a:pPr>
            <a:r>
              <a:t>• Chống SQL Injection: </a:t>
            </a:r>
          </a:p>
          <a:p>
            <a:pPr>
              <a:spcAft>
                <a:spcPts val="400"/>
              </a:spcAft>
              <a:defRPr sz="950">
                <a:solidFill>
                  <a:srgbClr val="6E7369"/>
                </a:solidFill>
                <a:latin typeface="Calibri"/>
              </a:defRPr>
            </a:pPr>
            <a:r>
              <a:t>  Sử dụng 100% Django ORM Parameterized Queries, triệt tiêu nguy cơ tiêm mã độc vào cơ sở dữ liệu.</a:t>
            </a:r>
          </a:p>
          <a:p>
            <a:pPr>
              <a:defRPr sz="1000" b="1">
                <a:solidFill>
                  <a:srgbClr val="2D3A2E"/>
                </a:solidFill>
                <a:latin typeface="Calibri"/>
              </a:defRPr>
            </a:pPr>
            <a:r>
              <a:t>• XSS Sanitization: </a:t>
            </a:r>
          </a:p>
          <a:p>
            <a:pPr>
              <a:spcAft>
                <a:spcPts val="400"/>
              </a:spcAft>
              <a:defRPr sz="950">
                <a:solidFill>
                  <a:srgbClr val="6E7369"/>
                </a:solidFill>
                <a:latin typeface="Calibri"/>
              </a:defRPr>
            </a:pPr>
            <a:r>
              <a:t>  Tất cả chuỗi văn bản thiết kế và dữ liệu khách hàng được encode tự động trước khi xuất ra HTML templates.</a:t>
            </a:r>
          </a:p>
          <a:p>
            <a:pPr>
              <a:defRPr sz="1000" b="1">
                <a:solidFill>
                  <a:srgbClr val="2D3A2E"/>
                </a:solidFill>
                <a:latin typeface="Calibri"/>
              </a:defRPr>
            </a:pPr>
            <a:r>
              <a:t>• Bảo Mật Tải File 10MB: </a:t>
            </a:r>
          </a:p>
          <a:p>
            <a:pPr>
              <a:spcAft>
                <a:spcPts val="400"/>
              </a:spcAft>
              <a:defRPr sz="950">
                <a:solidFill>
                  <a:srgbClr val="6E7369"/>
                </a:solidFill>
                <a:latin typeface="Calibri"/>
              </a:defRPr>
            </a:pPr>
            <a:r>
              <a:t>  Kiểm tra kích thước file và MIME-type ở tầng controller trước khi xử lý, ngăn chặn tấn công DoS tải file rác.</a:t>
            </a:r>
          </a:p>
        </p:txBody>
      </p:sp>
      <p:sp>
        <p:nvSpPr>
          <p:cNvPr id="7" name="Rounded Rectangle 6"/>
          <p:cNvSpPr/>
          <p:nvPr/>
        </p:nvSpPr>
        <p:spPr>
          <a:xfrm>
            <a:off x="6263640" y="1737360"/>
            <a:ext cx="5166360" cy="4297680"/>
          </a:xfrm>
          <a:prstGeom prst="roundRect">
            <a:avLst/>
          </a:prstGeom>
          <a:solidFill>
            <a:srgbClr val="FFFFFF"/>
          </a:solidFill>
          <a:ln w="12700">
            <a:solidFill>
              <a:srgbClr val="E4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60" y="1920240"/>
            <a:ext cx="4617720" cy="3931920"/>
          </a:xfrm>
          <a:prstGeom prst="rect">
            <a:avLst/>
          </a:prstGeom>
          <a:noFill/>
        </p:spPr>
        <p:txBody>
          <a:bodyPr wrap="square">
            <a:spAutoFit/>
          </a:bodyPr>
          <a:lstStyle/>
          <a:p>
            <a:pPr>
              <a:spcAft>
                <a:spcPts val="1000"/>
              </a:spcAft>
              <a:defRPr sz="1500" b="1">
                <a:solidFill>
                  <a:srgbClr val="1C1C1C"/>
                </a:solidFill>
                <a:latin typeface="Trebuchet MS"/>
              </a:defRPr>
            </a:pPr>
            <a:r>
              <a:t>Kết Quả Kiểm Thử Hệ Thống (Automated Tests)</a:t>
            </a:r>
          </a:p>
          <a:p>
            <a:pPr>
              <a:defRPr sz="1000" b="1">
                <a:solidFill>
                  <a:srgbClr val="2D3A2E"/>
                </a:solidFill>
                <a:latin typeface="Calibri"/>
              </a:defRPr>
            </a:pPr>
            <a:r>
              <a:t>✓ Trang Chủ &amp; Trang Mẫu (/ &amp; /mau-co-san/)</a:t>
            </a:r>
          </a:p>
          <a:p>
            <a:pPr>
              <a:spcAft>
                <a:spcPts val="500"/>
              </a:spcAft>
              <a:defRPr sz="900">
                <a:solidFill>
                  <a:srgbClr val="6E7369"/>
                </a:solidFill>
                <a:latin typeface="Calibri"/>
              </a:defRPr>
            </a:pPr>
            <a:r>
              <a:t>  Kết quả: Status 200 OK — Render đủ 22 sản phẩm chuẩn tỷ lệ 4:3</a:t>
            </a:r>
          </a:p>
          <a:p>
            <a:pPr>
              <a:defRPr sz="1000" b="1">
                <a:solidFill>
                  <a:srgbClr val="2D3A2E"/>
                </a:solidFill>
                <a:latin typeface="Calibri"/>
              </a:defRPr>
            </a:pPr>
            <a:r>
              <a:t>✓ Nếp Studio Canvas (/studio/)</a:t>
            </a:r>
          </a:p>
          <a:p>
            <a:pPr>
              <a:spcAft>
                <a:spcPts val="500"/>
              </a:spcAft>
              <a:defRPr sz="900">
                <a:solidFill>
                  <a:srgbClr val="6E7369"/>
                </a:solidFill>
                <a:latin typeface="Calibri"/>
              </a:defRPr>
            </a:pPr>
            <a:r>
              <a:t>  Kết quả: Status 200 OK — Load đủ 5 phôi áo &amp; tọa độ khổ in</a:t>
            </a:r>
          </a:p>
          <a:p>
            <a:pPr>
              <a:defRPr sz="1000" b="1">
                <a:solidFill>
                  <a:srgbClr val="2D3A2E"/>
                </a:solidFill>
                <a:latin typeface="Calibri"/>
              </a:defRPr>
            </a:pPr>
            <a:r>
              <a:t>✓ API Gợi Ý Kích Cỡ (/api/calculate-size/)</a:t>
            </a:r>
          </a:p>
          <a:p>
            <a:pPr>
              <a:spcAft>
                <a:spcPts val="500"/>
              </a:spcAft>
              <a:defRPr sz="900">
                <a:solidFill>
                  <a:srgbClr val="6E7369"/>
                </a:solidFill>
                <a:latin typeface="Calibri"/>
              </a:defRPr>
            </a:pPr>
            <a:r>
              <a:t>  Kết quả: Status 200 OK — Match chính xác size theo nhân trắc</a:t>
            </a:r>
          </a:p>
          <a:p>
            <a:pPr>
              <a:defRPr sz="1000" b="1">
                <a:solidFill>
                  <a:srgbClr val="2D3A2E"/>
                </a:solidFill>
                <a:latin typeface="Calibri"/>
              </a:defRPr>
            </a:pPr>
            <a:r>
              <a:t>✓ Quản Trị Thêm/Sửa/Xóa Sản Phẩm</a:t>
            </a:r>
          </a:p>
          <a:p>
            <a:pPr>
              <a:spcAft>
                <a:spcPts val="500"/>
              </a:spcAft>
              <a:defRPr sz="900">
                <a:solidFill>
                  <a:srgbClr val="6E7369"/>
                </a:solidFill>
                <a:latin typeface="Calibri"/>
              </a:defRPr>
            </a:pPr>
            <a:r>
              <a:t>  Kết quả: Status 302/200 — Thêm mới, sửa giá, đổi ảnh không lỗi</a:t>
            </a:r>
          </a:p>
          <a:p>
            <a:pPr>
              <a:defRPr sz="1000" b="1">
                <a:solidFill>
                  <a:srgbClr val="2D3A2E"/>
                </a:solidFill>
                <a:latin typeface="Calibri"/>
              </a:defRPr>
            </a:pPr>
            <a:r>
              <a:t>✓ Phiên Đăng Nhập Signed Cookies</a:t>
            </a:r>
          </a:p>
          <a:p>
            <a:pPr>
              <a:spcAft>
                <a:spcPts val="500"/>
              </a:spcAft>
              <a:defRPr sz="900">
                <a:solidFill>
                  <a:srgbClr val="6E7369"/>
                </a:solidFill>
                <a:latin typeface="Calibri"/>
              </a:defRPr>
            </a:pPr>
            <a:r>
              <a:t>  Kết quả: Status 302 -&gt; 200 — Giữ phiên đăng nhập không vòng lặp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698480" cy="1188720"/>
          </a:xfrm>
          <a:prstGeom prst="rect">
            <a:avLst/>
          </a:prstGeom>
          <a:noFill/>
        </p:spPr>
        <p:txBody>
          <a:bodyPr wrap="square" lIns="0" tIns="0" rIns="0" bIns="0">
            <a:spAutoFit/>
          </a:bodyPr>
          <a:lstStyle/>
          <a:p>
            <a:pPr>
              <a:spcAft>
                <a:spcPts val="300"/>
              </a:spcAft>
              <a:defRPr sz="1000" b="1">
                <a:solidFill>
                  <a:srgbClr val="647746"/>
                </a:solidFill>
                <a:latin typeface="Calibri"/>
              </a:defRPr>
            </a:pPr>
            <a:r>
              <a:t>/// TƯƠNG LAI &amp; MỞ RỘNG</a:t>
            </a:r>
          </a:p>
          <a:p>
            <a:pPr>
              <a:defRPr sz="2200" b="1">
                <a:solidFill>
                  <a:srgbClr val="1C1C1C"/>
                </a:solidFill>
                <a:latin typeface="Trebuchet MS"/>
              </a:defRPr>
            </a:pPr>
            <a:r>
              <a:t>Lộ Trình Phát Triển Sản Phẩm (Product Roadmap)</a:t>
            </a:r>
          </a:p>
          <a:p>
            <a:pPr>
              <a:spcBef>
                <a:spcPts val="400"/>
              </a:spcBef>
              <a:defRPr sz="1100">
                <a:solidFill>
                  <a:srgbClr val="6E7369"/>
                </a:solidFill>
                <a:latin typeface="Calibri"/>
              </a:defRPr>
            </a:pPr>
            <a:r>
              <a:t>Chiến lược nâng cấp công nghệ 3D, ứng dụng Trí Tuệ Nhân Tạo và mở rộng mạng lưới xưởng in toàn quốc.</a:t>
            </a:r>
          </a:p>
        </p:txBody>
      </p:sp>
      <p:sp>
        <p:nvSpPr>
          <p:cNvPr id="4" name="TextBox 3"/>
          <p:cNvSpPr txBox="1"/>
          <p:nvPr/>
        </p:nvSpPr>
        <p:spPr>
          <a:xfrm>
            <a:off x="731520" y="6309360"/>
            <a:ext cx="10698480" cy="365760"/>
          </a:xfrm>
          <a:prstGeom prst="rect">
            <a:avLst/>
          </a:prstGeom>
          <a:noFill/>
        </p:spPr>
        <p:txBody>
          <a:bodyPr wrap="square" lIns="0" tIns="0" rIns="0" bIns="0">
            <a:spAutoFit/>
          </a:bodyPr>
          <a:lstStyle/>
          <a:p>
            <a:pPr>
              <a:defRPr sz="900">
                <a:solidFill>
                  <a:srgbClr val="A0A0A0"/>
                </a:solidFill>
                <a:latin typeface="Calibri"/>
              </a:defRPr>
            </a:pPr>
            <a:r>
              <a:t>NẾP FORM — BÁO CÁO KIẾN TRÚC HỆ THỐNG &amp; SẢN XUẤT THỜI TRANG THEO YÊU CẦU    |    SLIDE 15 / 16</a:t>
            </a:r>
          </a:p>
        </p:txBody>
      </p:sp>
      <p:sp>
        <p:nvSpPr>
          <p:cNvPr id="5" name="Rounded Rectangle 4"/>
          <p:cNvSpPr/>
          <p:nvPr/>
        </p:nvSpPr>
        <p:spPr>
          <a:xfrm>
            <a:off x="731520" y="1737360"/>
            <a:ext cx="3328416" cy="4297680"/>
          </a:xfrm>
          <a:prstGeom prst="roundRect">
            <a:avLst/>
          </a:prstGeom>
          <a:solidFill>
            <a:srgbClr val="FFFFFF"/>
          </a:solidFill>
          <a:ln w="12700">
            <a:solidFill>
              <a:srgbClr val="E4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20240"/>
            <a:ext cx="2871216" cy="3931920"/>
          </a:xfrm>
          <a:prstGeom prst="rect">
            <a:avLst/>
          </a:prstGeom>
          <a:noFill/>
        </p:spPr>
        <p:txBody>
          <a:bodyPr wrap="square">
            <a:spAutoFit/>
          </a:bodyPr>
          <a:lstStyle/>
          <a:p>
            <a:pPr>
              <a:defRPr sz="1300" b="1">
                <a:solidFill>
                  <a:srgbClr val="2D3A2E"/>
                </a:solidFill>
                <a:latin typeface="Trebuchet MS"/>
              </a:defRPr>
            </a:pPr>
            <a:r>
              <a:t>GIAI ĐOẠN 1 (HIỆN TẠI)</a:t>
            </a:r>
          </a:p>
          <a:p>
            <a:pPr>
              <a:spcAft>
                <a:spcPts val="1400"/>
              </a:spcAft>
              <a:defRPr sz="900" b="1">
                <a:solidFill>
                  <a:srgbClr val="6E7369"/>
                </a:solidFill>
                <a:latin typeface="Calibri"/>
              </a:defRPr>
            </a:pPr>
            <a:r>
              <a:t>ĐÃ HOÀN THÀNH 100%</a:t>
            </a:r>
          </a:p>
          <a:p>
            <a:pPr>
              <a:spcAft>
                <a:spcPts val="700"/>
              </a:spcAft>
              <a:defRPr sz="1000">
                <a:solidFill>
                  <a:srgbClr val="1C1C1C"/>
                </a:solidFill>
                <a:latin typeface="Calibri"/>
              </a:defRPr>
            </a:pPr>
            <a:r>
              <a:t>• Hoàn thiện Nếp Studio 2D Canvas hai mặt áo</a:t>
            </a:r>
          </a:p>
          <a:p>
            <a:pPr>
              <a:spcAft>
                <a:spcPts val="700"/>
              </a:spcAft>
              <a:defRPr sz="1000">
                <a:solidFill>
                  <a:srgbClr val="1C1C1C"/>
                </a:solidFill>
                <a:latin typeface="Calibri"/>
              </a:defRPr>
            </a:pPr>
            <a:r>
              <a:t>• Hệ thống Catalog 22 sản phẩm may sẵn</a:t>
            </a:r>
          </a:p>
          <a:p>
            <a:pPr>
              <a:spcAft>
                <a:spcPts val="700"/>
              </a:spcAft>
              <a:defRPr sz="1000">
                <a:solidFill>
                  <a:srgbClr val="1C1C1C"/>
                </a:solidFill>
                <a:latin typeface="Calibri"/>
              </a:defRPr>
            </a:pPr>
            <a:r>
              <a:t>• Bộ tính toán size áo thông minh theo dáng người</a:t>
            </a:r>
          </a:p>
          <a:p>
            <a:pPr>
              <a:spcAft>
                <a:spcPts val="700"/>
              </a:spcAft>
              <a:defRPr sz="1000">
                <a:solidFill>
                  <a:srgbClr val="1C1C1C"/>
                </a:solidFill>
                <a:latin typeface="Calibri"/>
              </a:defRPr>
            </a:pPr>
            <a:r>
              <a:t>• Cổng quản trị Nếp Admin Portal toàn diện</a:t>
            </a:r>
          </a:p>
          <a:p>
            <a:pPr>
              <a:spcAft>
                <a:spcPts val="700"/>
              </a:spcAft>
              <a:defRPr sz="1000">
                <a:solidFill>
                  <a:srgbClr val="1C1C1C"/>
                </a:solidFill>
                <a:latin typeface="Calibri"/>
              </a:defRPr>
            </a:pPr>
            <a:r>
              <a:t>• Triển khai đám mây Vercel &amp; đồng bộ GitHub</a:t>
            </a:r>
          </a:p>
        </p:txBody>
      </p:sp>
      <p:sp>
        <p:nvSpPr>
          <p:cNvPr id="7" name="Rounded Rectangle 6"/>
          <p:cNvSpPr/>
          <p:nvPr/>
        </p:nvSpPr>
        <p:spPr>
          <a:xfrm>
            <a:off x="4416552" y="1737360"/>
            <a:ext cx="3328416" cy="4297680"/>
          </a:xfrm>
          <a:prstGeom prst="roundRect">
            <a:avLst/>
          </a:prstGeom>
          <a:solidFill>
            <a:srgbClr val="FFFFFF"/>
          </a:solidFill>
          <a:ln w="12700">
            <a:solidFill>
              <a:srgbClr val="E4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45152" y="1920240"/>
            <a:ext cx="2871216" cy="3931920"/>
          </a:xfrm>
          <a:prstGeom prst="rect">
            <a:avLst/>
          </a:prstGeom>
          <a:noFill/>
        </p:spPr>
        <p:txBody>
          <a:bodyPr wrap="square">
            <a:spAutoFit/>
          </a:bodyPr>
          <a:lstStyle/>
          <a:p>
            <a:pPr>
              <a:defRPr sz="1300" b="1">
                <a:solidFill>
                  <a:srgbClr val="C4A35A"/>
                </a:solidFill>
                <a:latin typeface="Trebuchet MS"/>
              </a:defRPr>
            </a:pPr>
            <a:r>
              <a:t>GIAI ĐOẠN 2 (QUÝ TIẾP THEO)</a:t>
            </a:r>
          </a:p>
          <a:p>
            <a:pPr>
              <a:spcAft>
                <a:spcPts val="1400"/>
              </a:spcAft>
              <a:defRPr sz="900" b="1">
                <a:solidFill>
                  <a:srgbClr val="6E7369"/>
                </a:solidFill>
                <a:latin typeface="Calibri"/>
              </a:defRPr>
            </a:pPr>
            <a:r>
              <a:t>ĐANG TRIỂN KHAI</a:t>
            </a:r>
          </a:p>
          <a:p>
            <a:pPr>
              <a:spcAft>
                <a:spcPts val="700"/>
              </a:spcAft>
              <a:defRPr sz="1000">
                <a:solidFill>
                  <a:srgbClr val="1C1C1C"/>
                </a:solidFill>
                <a:latin typeface="Calibri"/>
              </a:defRPr>
            </a:pPr>
            <a:r>
              <a:t>• Tích hợp Mockup 3D tương tác xoay 360 độ (Three.js)</a:t>
            </a:r>
          </a:p>
          <a:p>
            <a:pPr>
              <a:spcAft>
                <a:spcPts val="700"/>
              </a:spcAft>
              <a:defRPr sz="1000">
                <a:solidFill>
                  <a:srgbClr val="1C1C1C"/>
                </a:solidFill>
                <a:latin typeface="Calibri"/>
              </a:defRPr>
            </a:pPr>
            <a:r>
              <a:t>• AI Assistant gợi ý câu chữ &amp; phong cách typography</a:t>
            </a:r>
          </a:p>
          <a:p>
            <a:pPr>
              <a:spcAft>
                <a:spcPts val="700"/>
              </a:spcAft>
              <a:defRPr sz="1000">
                <a:solidFill>
                  <a:srgbClr val="1C1C1C"/>
                </a:solidFill>
                <a:latin typeface="Calibri"/>
              </a:defRPr>
            </a:pPr>
            <a:r>
              <a:t>• Tính năng xóa phông ảnh tự động khi tải lên</a:t>
            </a:r>
          </a:p>
          <a:p>
            <a:pPr>
              <a:spcAft>
                <a:spcPts val="700"/>
              </a:spcAft>
              <a:defRPr sz="1000">
                <a:solidFill>
                  <a:srgbClr val="1C1C1C"/>
                </a:solidFill>
                <a:latin typeface="Calibri"/>
              </a:defRPr>
            </a:pPr>
            <a:r>
              <a:t>• Cổng thanh toán tự động VietQR Pro xác nhận 1s</a:t>
            </a:r>
          </a:p>
          <a:p>
            <a:pPr>
              <a:spcAft>
                <a:spcPts val="700"/>
              </a:spcAft>
              <a:defRPr sz="1000">
                <a:solidFill>
                  <a:srgbClr val="1C1C1C"/>
                </a:solidFill>
                <a:latin typeface="Calibri"/>
              </a:defRPr>
            </a:pPr>
            <a:r>
              <a:t>• Ứng dụng quản trị riêng cho thợ in tại xưởng</a:t>
            </a:r>
          </a:p>
        </p:txBody>
      </p:sp>
      <p:sp>
        <p:nvSpPr>
          <p:cNvPr id="9" name="Rounded Rectangle 8"/>
          <p:cNvSpPr/>
          <p:nvPr/>
        </p:nvSpPr>
        <p:spPr>
          <a:xfrm>
            <a:off x="8101584" y="1737360"/>
            <a:ext cx="3328416" cy="4297680"/>
          </a:xfrm>
          <a:prstGeom prst="roundRect">
            <a:avLst/>
          </a:prstGeom>
          <a:solidFill>
            <a:srgbClr val="FFFFFF"/>
          </a:solidFill>
          <a:ln w="12700">
            <a:solidFill>
              <a:srgbClr val="E4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30184" y="1920240"/>
            <a:ext cx="2871216" cy="3931920"/>
          </a:xfrm>
          <a:prstGeom prst="rect">
            <a:avLst/>
          </a:prstGeom>
          <a:noFill/>
        </p:spPr>
        <p:txBody>
          <a:bodyPr wrap="square">
            <a:spAutoFit/>
          </a:bodyPr>
          <a:lstStyle/>
          <a:p>
            <a:pPr>
              <a:defRPr sz="1300" b="1">
                <a:solidFill>
                  <a:srgbClr val="465A78"/>
                </a:solidFill>
                <a:latin typeface="Trebuchet MS"/>
              </a:defRPr>
            </a:pPr>
            <a:r>
              <a:t>GIAI ĐOẠN 3 (MỤC TIÊU DÀI HẠN)</a:t>
            </a:r>
          </a:p>
          <a:p>
            <a:pPr>
              <a:spcAft>
                <a:spcPts val="1400"/>
              </a:spcAft>
              <a:defRPr sz="900" b="1">
                <a:solidFill>
                  <a:srgbClr val="6E7369"/>
                </a:solidFill>
                <a:latin typeface="Calibri"/>
              </a:defRPr>
            </a:pPr>
            <a:r>
              <a:t>KẾ HOẠCH TƯƠNG LAI</a:t>
            </a:r>
          </a:p>
          <a:p>
            <a:pPr>
              <a:spcAft>
                <a:spcPts val="700"/>
              </a:spcAft>
              <a:defRPr sz="1000">
                <a:solidFill>
                  <a:srgbClr val="1C1C1C"/>
                </a:solidFill>
                <a:latin typeface="Calibri"/>
              </a:defRPr>
            </a:pPr>
            <a:r>
              <a:t>• Mở rộng mạng lưới đối tác xưởng in tại 3 miền</a:t>
            </a:r>
          </a:p>
          <a:p>
            <a:pPr>
              <a:spcAft>
                <a:spcPts val="700"/>
              </a:spcAft>
              <a:defRPr sz="1000">
                <a:solidFill>
                  <a:srgbClr val="1C1C1C"/>
                </a:solidFill>
                <a:latin typeface="Calibri"/>
              </a:defRPr>
            </a:pPr>
            <a:r>
              <a:t>• Định tuyến đơn tự động tới xưởng in gần khách nhất</a:t>
            </a:r>
          </a:p>
          <a:p>
            <a:pPr>
              <a:spcAft>
                <a:spcPts val="700"/>
              </a:spcAft>
              <a:defRPr sz="1000">
                <a:solidFill>
                  <a:srgbClr val="1C1C1C"/>
                </a:solidFill>
                <a:latin typeface="Calibri"/>
              </a:defRPr>
            </a:pPr>
            <a:r>
              <a:t>• Webhook tích hợp trực tiếp bưu cục GHN / GHTK</a:t>
            </a:r>
          </a:p>
          <a:p>
            <a:pPr>
              <a:spcAft>
                <a:spcPts val="700"/>
              </a:spcAft>
              <a:defRPr sz="1000">
                <a:solidFill>
                  <a:srgbClr val="1C1C1C"/>
                </a:solidFill>
                <a:latin typeface="Calibri"/>
              </a:defRPr>
            </a:pPr>
            <a:r>
              <a:t>• Chương trình đồng sáng tạo cho các nghệ sĩ Local</a:t>
            </a:r>
          </a:p>
          <a:p>
            <a:pPr>
              <a:spcAft>
                <a:spcPts val="700"/>
              </a:spcAft>
              <a:defRPr sz="1000">
                <a:solidFill>
                  <a:srgbClr val="1C1C1C"/>
                </a:solidFill>
                <a:latin typeface="Calibri"/>
              </a:defRPr>
            </a:pPr>
            <a:r>
              <a:t>• Mở rộng sang các dòng sản phẩm phụ kiện &amp; nón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82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9966960" cy="1645920"/>
          </a:xfrm>
          <a:prstGeom prst="rect">
            <a:avLst/>
          </a:prstGeom>
          <a:noFill/>
        </p:spPr>
        <p:txBody>
          <a:bodyPr wrap="square">
            <a:spAutoFit/>
          </a:bodyPr>
          <a:lstStyle/>
          <a:p>
            <a:pPr>
              <a:spcAft>
                <a:spcPts val="800"/>
              </a:spcAft>
              <a:defRPr sz="1200" b="1">
                <a:solidFill>
                  <a:srgbClr val="C4A35A"/>
                </a:solidFill>
                <a:latin typeface="Calibri"/>
              </a:defRPr>
            </a:pPr>
            <a:r>
              <a:t>CẢM ƠN QUÝ THẦY CÔ &amp; HỘI ĐỒNG LẮNG NGHE</a:t>
            </a:r>
          </a:p>
          <a:p>
            <a:pPr>
              <a:spcAft>
                <a:spcPts val="1200"/>
              </a:spcAft>
              <a:defRPr sz="3200" b="1">
                <a:solidFill>
                  <a:srgbClr val="FFFFFF"/>
                </a:solidFill>
                <a:latin typeface="Trebuchet MS"/>
              </a:defRPr>
            </a:pPr>
            <a:r>
              <a:t>Nếp Form — Một Nếp Áo, Một Nét Riêng.</a:t>
            </a:r>
          </a:p>
          <a:p>
            <a:pPr>
              <a:defRPr sz="1200">
                <a:solidFill>
                  <a:srgbClr val="BEC3B9"/>
                </a:solidFill>
                <a:latin typeface="Calibri"/>
              </a:defRPr>
            </a:pPr>
            <a:r>
              <a:t>Dự án đã khẳng định tính khả thi của mô hình POD tự động hóa, kết hợp hoàn hảo giữa kỹ thuật lập trình hiện đại và trải nghiệm thời trang tinh tế.</a:t>
            </a:r>
          </a:p>
        </p:txBody>
      </p:sp>
      <p:sp>
        <p:nvSpPr>
          <p:cNvPr id="4" name="Rounded Rectangle 3"/>
          <p:cNvSpPr/>
          <p:nvPr/>
        </p:nvSpPr>
        <p:spPr>
          <a:xfrm>
            <a:off x="1097280" y="3931920"/>
            <a:ext cx="9966960" cy="2011680"/>
          </a:xfrm>
          <a:prstGeom prst="roundRect">
            <a:avLst/>
          </a:prstGeom>
          <a:solidFill>
            <a:srgbClr val="222E24"/>
          </a:solidFill>
          <a:ln w="12700">
            <a:solidFill>
              <a:srgbClr val="324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4114800"/>
            <a:ext cx="9418320" cy="1645920"/>
          </a:xfrm>
          <a:prstGeom prst="rect">
            <a:avLst/>
          </a:prstGeom>
          <a:noFill/>
        </p:spPr>
        <p:txBody>
          <a:bodyPr wrap="square">
            <a:spAutoFit/>
          </a:bodyPr>
          <a:lstStyle/>
          <a:p>
            <a:pPr>
              <a:spcAft>
                <a:spcPts val="800"/>
              </a:spcAft>
              <a:defRPr sz="1100" b="1">
                <a:solidFill>
                  <a:srgbClr val="C4A35A"/>
                </a:solidFill>
                <a:latin typeface="Calibri"/>
              </a:defRPr>
            </a:pPr>
            <a:r>
              <a:t>THÔNG TIN TRẢI NGHIỆM HỆ THỐNG &amp; LIÊN HỆ DỰ ÁN</a:t>
            </a:r>
          </a:p>
          <a:p>
            <a:pPr>
              <a:spcAft>
                <a:spcPts val="400"/>
              </a:spcAft>
              <a:defRPr sz="1050">
                <a:solidFill>
                  <a:srgbClr val="F7F5F0"/>
                </a:solidFill>
                <a:latin typeface="Calibri"/>
              </a:defRPr>
            </a:pPr>
            <a:r>
              <a:t>• GitHub Repository Mã Nguồn: https://github.com/duyminh12a/clothes-shop (Branch main)</a:t>
            </a:r>
          </a:p>
          <a:p>
            <a:pPr>
              <a:spcAft>
                <a:spcPts val="400"/>
              </a:spcAft>
              <a:defRPr sz="1050">
                <a:solidFill>
                  <a:srgbClr val="F7F5F0"/>
                </a:solidFill>
                <a:latin typeface="Calibri"/>
              </a:defRPr>
            </a:pPr>
            <a:r>
              <a:t>• Phiên Bản Live Demo Trên Vercel: https://clothes-shop-dun-two.vercel.app</a:t>
            </a:r>
          </a:p>
          <a:p>
            <a:pPr>
              <a:spcAft>
                <a:spcPts val="400"/>
              </a:spcAft>
              <a:defRPr sz="1050">
                <a:solidFill>
                  <a:srgbClr val="F7F5F0"/>
                </a:solidFill>
                <a:latin typeface="Calibri"/>
              </a:defRPr>
            </a:pPr>
            <a:r>
              <a:t>• Cổng Quản Trị Hệ Thống: /quan-tri/san-pham/  (Tài khoản: admin / admin123)</a:t>
            </a:r>
          </a:p>
          <a:p>
            <a:pPr>
              <a:spcAft>
                <a:spcPts val="400"/>
              </a:spcAft>
              <a:defRPr sz="1050">
                <a:solidFill>
                  <a:srgbClr val="F7F5F0"/>
                </a:solidFill>
                <a:latin typeface="Calibri"/>
              </a:defRPr>
            </a:pPr>
            <a:r>
              <a:t>• Sẵn sàng giải đáp mọi câu hỏi và nhận xét chuyên môn từ hội đồng (Q&amp;A Session).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